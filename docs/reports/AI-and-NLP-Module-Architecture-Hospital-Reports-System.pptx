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  <p:italic r:id="rId19"/>
    </p:embeddedFont>
    <p:embeddedFont>
      <p:font typeface="Roboto Bold" panose="02000000000000000000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30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993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5552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complete pipeline that transforms scanned hospital reports into searchable, intelligent data. Doctors can query the system to find similar patient cases instantly.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195438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341959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648471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Scanned PDFs, images, handwritten reports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195438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341959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648471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list of matching patient records with similarity scores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390379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53690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Idea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3843412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unstructured documents → structured metadata → searchable vectors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58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1: OCR (Optical Character Recognition)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75618"/>
            <a:ext cx="5192688" cy="29424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6136" y="1102370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6136" y="1404714"/>
            <a:ext cx="265643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scanned images and converts them into machine-readable text.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6136" y="1885280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6136" y="2187625"/>
            <a:ext cx="31136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Tesseract, EasyOCR, PaddleOCR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6136" y="2482155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6136" y="2784500"/>
            <a:ext cx="265643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Scanned diabetes report (image file)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 Name: John Doe, Disease: Diabetes Type 2, HbA1c: 8.5%, Date: 2024-08-08"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96136" y="3762598"/>
            <a:ext cx="2656433" cy="815280"/>
          </a:xfrm>
          <a:prstGeom prst="roundRect">
            <a:avLst>
              <a:gd name="adj" fmla="val 6390"/>
            </a:avLst>
          </a:prstGeom>
          <a:solidFill>
            <a:srgbClr val="E1E1E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110" y="3926904"/>
            <a:ext cx="155004" cy="1239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99088" y="3891186"/>
            <a:ext cx="212950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OCR, doctors can't search old paper records. With OCR, everything becomes digital and searchable.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1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2: Text Cleaning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4161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OCR output is rarely perfect. This stage removes noise so downstream stages work accurately.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27895"/>
            <a:ext cx="2622724" cy="2074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88870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does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195215"/>
            <a:ext cx="2224906" cy="144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Removes noise from OCR output — extra spaces, OCR mistakes, special symbols, and formatting issues.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Tools: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Python Regex, spaCy preprocessing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727895"/>
            <a:ext cx="2622724" cy="2074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7610" y="188870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Before Cleaning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97610" y="2195215"/>
            <a:ext cx="2224906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"P@tient N@me: J0hn D0e Dis@@se: Diab3tes"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727895"/>
            <a:ext cx="2622724" cy="2074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2092" y="188870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After Cleaning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2092" y="2195215"/>
            <a:ext cx="2224906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 Name: John Doe Disease: Diabetes"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961433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FCF2B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4162202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413861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text = better accuracy in every subsequent stage. Garbage in, garbage out.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844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3: Medical NLP &amp; Named Entity Recognition (NER)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82191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241673"/>
            <a:ext cx="43980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and extracts structured medical information from raw text.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485900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1745382"/>
            <a:ext cx="43980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spaCy, SciSpaCy, MedSpaCy, BioBERT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989609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19" y="2249091"/>
            <a:ext cx="394082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"Dr. Smith diagnosed John Doe with Type 2 Diabetes. HbA1c test shows 8.5%. Prescribed Metformin. Referred to Endocrinology."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661940"/>
            <a:ext cx="3940820" cy="526554"/>
          </a:xfrm>
          <a:prstGeom prst="roundRect">
            <a:avLst>
              <a:gd name="adj" fmla="val 8834"/>
            </a:avLst>
          </a:prstGeom>
          <a:solidFill>
            <a:srgbClr val="E1E1E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47" y="2793504"/>
            <a:ext cx="138410" cy="1107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5985" y="2767459"/>
            <a:ext cx="347022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storing entire 10-page reports, we extract only the important medical facts.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11824" y="982191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Extracted Entities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11824" y="1252538"/>
            <a:ext cx="1927175" cy="1066949"/>
          </a:xfrm>
          <a:prstGeom prst="roundRect">
            <a:avLst>
              <a:gd name="adj" fmla="val 436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27315" y="1368028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8695" y="1459409"/>
            <a:ext cx="149498" cy="1494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27315" y="1786756"/>
            <a:ext cx="169619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Disease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27315" y="2046238"/>
            <a:ext cx="169619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Diabetes Type 2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725469" y="1252538"/>
            <a:ext cx="1927175" cy="1066949"/>
          </a:xfrm>
          <a:prstGeom prst="roundRect">
            <a:avLst>
              <a:gd name="adj" fmla="val 436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40959" y="1368028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2340" y="1459409"/>
            <a:ext cx="149498" cy="1494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40959" y="1786756"/>
            <a:ext cx="169619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Doctor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840959" y="2046238"/>
            <a:ext cx="169619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Smith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11824" y="2405955"/>
            <a:ext cx="1927175" cy="1066949"/>
          </a:xfrm>
          <a:prstGeom prst="roundRect">
            <a:avLst>
              <a:gd name="adj" fmla="val 436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27315" y="2521446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8695" y="2612827"/>
            <a:ext cx="149498" cy="14949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27315" y="2940174"/>
            <a:ext cx="169619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27315" y="3199656"/>
            <a:ext cx="169619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John Doe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725469" y="2405955"/>
            <a:ext cx="1927175" cy="1066949"/>
          </a:xfrm>
          <a:prstGeom prst="roundRect">
            <a:avLst>
              <a:gd name="adj" fmla="val 436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840959" y="2521446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32340" y="2612827"/>
            <a:ext cx="149498" cy="14949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40959" y="2940174"/>
            <a:ext cx="169619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840959" y="3199656"/>
            <a:ext cx="169619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HbA1c (8.5%)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711824" y="3559373"/>
            <a:ext cx="1927175" cy="1066949"/>
          </a:xfrm>
          <a:prstGeom prst="roundRect">
            <a:avLst>
              <a:gd name="adj" fmla="val 436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827315" y="3674864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8695" y="3766245"/>
            <a:ext cx="149498" cy="14949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827315" y="4093592"/>
            <a:ext cx="169619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Medicine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827315" y="4353074"/>
            <a:ext cx="169619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Metformin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6725469" y="3559373"/>
            <a:ext cx="1927175" cy="1066949"/>
          </a:xfrm>
          <a:prstGeom prst="roundRect">
            <a:avLst>
              <a:gd name="adj" fmla="val 436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840959" y="3674864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2340" y="3766245"/>
            <a:ext cx="149498" cy="14949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40959" y="4093592"/>
            <a:ext cx="169619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6840959" y="4353074"/>
            <a:ext cx="169619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Endocrinology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8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4: Semantic Metadata Extraction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832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Structures extracted entities into a clean, searchable JSON format — replacing verbose report text with precise, queryable fields.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663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Instead of storing this...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29582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"Dr. Smith diagnosed John Doe with Type 2 Diabetes on August 8, 2024. HbA1c test shows 8.5%. Prescribed Metformin. Referred to Endocrinology Department."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95178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314998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data is searchable. A doctor can now query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"Show all Diabetes patients in Endocrinology"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instantly — no full-text scanning required.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7663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store this structured metadata: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49701" y="2147292"/>
            <a:ext cx="3902943" cy="2324844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811" y="2289051"/>
            <a:ext cx="3562722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"Disease": "Diabetes Type 2",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"Report_Type": "Blood Report",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"Department": "Endocrinology",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"Tests": ["HbA1c", "Glucose"],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"Medicine": "Metformin",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"Doctor": "Dr. Smith",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"Date": "2024-08-08"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9983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5: Embedding Generation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1156022"/>
            <a:ext cx="4722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Converts structured metadata into numerical vectors — the language computers use to measure meaning and similarity.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678856"/>
            <a:ext cx="642342" cy="7708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4844" y="1807294"/>
            <a:ext cx="396403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Metadata Input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254844" y="2077789"/>
            <a:ext cx="396403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Disease=Diabetes, Department=Endocrinology, Test=Glucose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449711"/>
            <a:ext cx="642342" cy="9192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54844" y="2578150"/>
            <a:ext cx="396403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Processing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1254844" y="2848645"/>
            <a:ext cx="396403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 Transformers, BioBERT, or ClinicalBERT encode the meaning of the text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368948"/>
            <a:ext cx="642342" cy="11944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54844" y="3497387"/>
            <a:ext cx="396403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Vector Output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254844" y="3767882"/>
            <a:ext cx="3964037" cy="66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[0.21, -0.45, 0.88, 0.12, 0.56, -0.33, ...]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similar reports will have similar vectors — enabling mathematical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9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6: Store in FAISS Vector Database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192262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FAISS stores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555477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 ID + Embedding vector only.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PDFs, images, or full text.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15086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Example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514079"/>
            <a:ext cx="262823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 101 → [0.21, -0.45, 0.88, ...]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 204 → [0.19, -0.43, 0.90, ...]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 876 → [0.05, 0.12, 0.34, ...]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350568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713783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is optimized for speed. Searching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million vectors takes milliseconds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hours. It's purpose-built for nearest-neighbor lookups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105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7: Similarity Search with Cosine Similarity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715938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reports that are semantically similar to a doctor's natural-language query by comparing vectors mathematically.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846832"/>
            <a:ext cx="4787801" cy="2841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0481" y="3029288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FAISS Search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81" y="2914656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 to Vector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86226" y="3029288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Submit Query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6119" y="3730749"/>
            <a:ext cx="4057055" cy="483840"/>
          </a:xfrm>
          <a:prstGeom prst="roundRect">
            <a:avLst>
              <a:gd name="adj" fmla="val 6345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8718" y="3813349"/>
            <a:ext cx="389185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Doctor Query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78718" y="3950122"/>
            <a:ext cx="3891855" cy="181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"Show me diabetic patients with high glucose levels"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vector: </a:t>
            </a: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[0.20, -0.44, 0.87, ...]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590827" y="3730749"/>
            <a:ext cx="4057055" cy="483840"/>
          </a:xfrm>
          <a:prstGeom prst="roundRect">
            <a:avLst>
              <a:gd name="adj" fmla="val 6345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73426" y="3813349"/>
            <a:ext cx="389185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101 ✓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673426" y="3950122"/>
            <a:ext cx="389185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 =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0.98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similar — strong match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496119" y="4252243"/>
            <a:ext cx="4057055" cy="479078"/>
          </a:xfrm>
          <a:prstGeom prst="roundRect">
            <a:avLst>
              <a:gd name="adj" fmla="val 6408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8718" y="4334842"/>
            <a:ext cx="389185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204 ✓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78718" y="4471615"/>
            <a:ext cx="389185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 =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0.95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 — good match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4590827" y="4252243"/>
            <a:ext cx="4057055" cy="479078"/>
          </a:xfrm>
          <a:prstGeom prst="roundRect">
            <a:avLst>
              <a:gd name="adj" fmla="val 6408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73426" y="4334842"/>
            <a:ext cx="389185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876 ✗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73426" y="4471615"/>
            <a:ext cx="389185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 =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0.12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similar — filtered out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8: Retrieve from Data Warehouse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returns matching Report IDs — then PostgreSQL fetches the full patient details behind each ID.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1073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two systems?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56880"/>
            <a:ext cx="3989412" cy="287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is blazing fast but stores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only vectors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PostgreSQL stores the actual patient data — names, test results, appointment history, full report text.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Together, they combine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speed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completeness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Neither system alone could do both jobs efficiently.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663232" y="2983706"/>
            <a:ext cx="3989412" cy="184175"/>
          </a:xfrm>
          <a:prstGeom prst="roundRect">
            <a:avLst>
              <a:gd name="adj" fmla="val 16165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3036838"/>
            <a:ext cx="88553" cy="70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3469" y="3033266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of FAISS as the index of a book, and PostgreSQL as the book itself.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6244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Stage 9: Priority Ranking Engine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96119" y="1423690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Ranks results by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relevance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just similarity. The formula: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Final Score = Similarity Score + Recency Score + Priority Score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1960885"/>
            <a:ext cx="2301106" cy="1149772"/>
          </a:xfrm>
          <a:prstGeom prst="roundRect">
            <a:avLst>
              <a:gd name="adj" fmla="val 477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1552" y="2096319"/>
            <a:ext cx="20302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🥇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Patient A — Rank #1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1552" y="2372692"/>
            <a:ext cx="203023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98% + Last Visit Yesterday + Emergency Case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Score: 0.98 + 0.9 + 1.0 = 2.88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17701" y="1960885"/>
            <a:ext cx="2301180" cy="1149772"/>
          </a:xfrm>
          <a:prstGeom prst="roundRect">
            <a:avLst>
              <a:gd name="adj" fmla="val 477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3135" y="2096319"/>
            <a:ext cx="20303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🥈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Patient C — Rank #2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53135" y="2372692"/>
            <a:ext cx="203031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95% + Last Visit Today + Routine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Score: 0.95 + 1.0 + 0.5 = 2.45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6119" y="3231133"/>
            <a:ext cx="4722763" cy="948928"/>
          </a:xfrm>
          <a:prstGeom prst="roundRect">
            <a:avLst>
              <a:gd name="adj" fmla="val 578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1552" y="3366567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🥉</a:t>
            </a: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Patient B — Rank #3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1552" y="3642940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99% + Last Visit 2 Years Ago + Routine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Score: 0.99 + 0.2 + 0.5 = 1.69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6119" y="4315569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recent emergency case ranks above an older, technically more similar case.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Ranking makes results actionable, not just accurate.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978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Roboto</vt:lpstr>
      <vt:lpstr>Raleway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ARPIT UMRAO</cp:lastModifiedBy>
  <cp:revision>2</cp:revision>
  <dcterms:created xsi:type="dcterms:W3CDTF">2026-08-08T15:22:01Z</dcterms:created>
  <dcterms:modified xsi:type="dcterms:W3CDTF">2026-08-08T15:27:05Z</dcterms:modified>
</cp:coreProperties>
</file>