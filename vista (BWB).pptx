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10"/>
    <p:sldId id="263" r:id="rId9"/>
  </p:sldIdLst>
  <p:notesMasterIdLst>
    <p:notesMasterId r:id="rId11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ed982810-300a-05a2-ccf7-e3527510023e}">
          <p14:sldIdLst>
            <p14:sldId id="256"/>
            <p14:sldId id="257"/>
          </p14:sldIdLst>
        </p14:section>
        <p14:section name="Solution" id="{a9f93f6b-6097-4e25-d104-9710d71c7b3f}">
          <p14:sldIdLst>
            <p14:sldId id="258"/>
            <p14:sldId id="259"/>
            <p14:sldId id="260"/>
            <p14:sldId id="261"/>
          </p14:sldIdLst>
        </p14:section>
        <p14:section name="Evidence" id="{a0685b87-6d50-48f8-1f36-9a64a21a725c}">
          <p14:sldIdLst>
            <p14:sldId id="262"/>
          </p14:sldIdLst>
        </p14:section>
        <p14:section name="Close" id="{966ae90c-2420-bd32-f215-deccc2a4469d}">
          <p14:sldIdLst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team The Revolutionaries from PSIT Kanpur and the problem we picked: VISTA, semantic search for medical reports using box-clustering.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Keyword search finds 'heart attack' but misses 'myocardial infarction'. Reports sit in silos, so doctors lose minutes. Existing semantic search embeds every document, which is costly.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Two phases. Build time: reports go through OCR and cleaning, MiniLM embeddings, K-Means box-clustering, one summary vector per box, and a compact FAISS index. Query time: embed the query, find the nearest boxes in FAISS, then rerank the reports inside them by cosine similarity, with freshness, call frequency and importance breaking ties. Expected impact: doctors reach similar past cases in seconds, hospitals search larger archives on modest hardware, and PII stays in the relational store. The 98.8% reduction is measured on the saved 1,000-report run; the under-2-second latency is a design target and is not benchmarked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Nine steps in three phases. Everything up to the FAISS index is a batch job; retrieval is the only online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Six layers: UI, API, processing pipeline, semantic index, data layer and DevOps. Streamlit is the working prototype UI and a Next.js doctor workspace is planned. Only box summary vectors enter FAISS; raw files stay in MinIO and metadata in Neon.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core innovation: index one richer summary vector per semantic box rather than every report. On the saved 1,000-report run that is 1,000 flat vectors versus 12 box vectors, 98.8% fewer; the prototype now holds 7,248 reports in 12 boxes. Recall@k versus a flat index has not been benchmarked yet and no recall figure is claimed.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Technically and economically feasible with open tools. Main risks: cluster quality (boxes overlap but follow specialties), reports outside the top boxes being missed, OCR noise, and de-identification not yet built. Rollout: prototype on public MTSamples data, benchmark latency and Recall@k, pilot on de-identified hospital data with clinician review, then expand after privacy and compliance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repository and QR code, thank the judges, and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Real screenshots from the working prototype: the ingestion screen (upload any report, a five-step pipeline, and a data agent that turns count questions into DuckDB queries), the Box Explorer projection of the 1,000-report test run, and the Analytics screen. Silhouette 0.0443 means boxes overlap, as expected for clinical text, but 95.5% specialty purity shows they still follow medical specialties. The prototype now holds 7,248 reports in 12 boxes. Recall@k versus a flat FAISS index is the next benchmark and no recall figure is claimed.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V_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assets/water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42232" y="0"/>
            <a:ext cx="9994392" cy="10287000"/>
          </a:xfrm>
          <a:prstGeom prst="rect">
            <a:avLst/>
          </a:prstGeom>
        </p:spPr>
      </p:pic>
      <p:pic>
        <p:nvPicPr>
          <p:cNvPr id="3" name="Image 1" descr="/home/claude/build/asset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5752" y="73152"/>
            <a:ext cx="2441448" cy="1792224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02920" y="1783080"/>
            <a:ext cx="182880" cy="9144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Shape 1"/>
          <p:cNvSpPr/>
          <p:nvPr/>
        </p:nvSpPr>
        <p:spPr>
          <a:xfrm>
            <a:off x="557784" y="9848088"/>
            <a:ext cx="6629400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Shape 2"/>
          <p:cNvSpPr/>
          <p:nvPr/>
        </p:nvSpPr>
        <p:spPr>
          <a:xfrm>
            <a:off x="10853928" y="9848088"/>
            <a:ext cx="6793992" cy="128016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7" name="Text 3"/>
          <p:cNvSpPr/>
          <p:nvPr/>
        </p:nvSpPr>
        <p:spPr>
          <a:xfrm>
            <a:off x="5486400" y="9601200"/>
            <a:ext cx="3547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BUILD WITH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9034272" y="9601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भारत5.0</a:t>
            </a:r>
            <a:endParaRPr lang="en-US" sz="1800" dirty="0"/>
          </a:p>
        </p:txBody>
      </p:sp>
      <p:sp>
        <p:nvSpPr>
          <p:cNvPr id="9" name="Text 5"/>
          <p:cNvSpPr/>
          <p:nvPr>
            <p:ph idx="107" type="title" hasCustomPrompt="1"/>
          </p:nvPr>
        </p:nvSpPr>
        <p:spPr>
          <a:xfrm>
            <a:off x="896112" y="1783080"/>
            <a:ext cx="162763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7373600" y="96012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V_COVER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assets/water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42232" y="0"/>
            <a:ext cx="9994392" cy="10287000"/>
          </a:xfrm>
          <a:prstGeom prst="rect">
            <a:avLst/>
          </a:prstGeom>
        </p:spPr>
      </p:pic>
      <p:pic>
        <p:nvPicPr>
          <p:cNvPr id="3" name="Image 1" descr="/home/claude/build/asset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7808" y="146304"/>
            <a:ext cx="2441448" cy="1792224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57784" y="9848088"/>
            <a:ext cx="6629400" cy="1280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Shape 1"/>
          <p:cNvSpPr/>
          <p:nvPr/>
        </p:nvSpPr>
        <p:spPr>
          <a:xfrm>
            <a:off x="10853928" y="9848088"/>
            <a:ext cx="6793992" cy="128016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6" name="Text 2"/>
          <p:cNvSpPr/>
          <p:nvPr/>
        </p:nvSpPr>
        <p:spPr>
          <a:xfrm>
            <a:off x="5486400" y="9601200"/>
            <a:ext cx="3547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BUILD WITH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9034272" y="9601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भारत5.0</a:t>
            </a: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7373600" y="96012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Relationship Id="rId6" Type="http://schemas.openxmlformats.org/officeDocument/2006/relationships/image" Target="../media/image2.png"/><Relationship Id="rId7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520440" y="1536192"/>
            <a:ext cx="10972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0" b="1" dirty="0">
                <a:solidFill>
                  <a:schemeClr val="tx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</a:t>
            </a:r>
            <a:endParaRPr lang="en-US" sz="14300" dirty="0"/>
          </a:p>
        </p:txBody>
      </p:sp>
      <p:sp>
        <p:nvSpPr>
          <p:cNvPr id="3" name="Text 1"/>
          <p:cNvSpPr txBox="1"/>
          <p:nvPr/>
        </p:nvSpPr>
        <p:spPr>
          <a:xfrm>
            <a:off x="8092440" y="33832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WITH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062472" y="3749040"/>
            <a:ext cx="1920240" cy="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030968" y="3749040"/>
            <a:ext cx="1920240" cy="0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2606040" y="3602736"/>
            <a:ext cx="12801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0" b="1" dirty="0">
                <a:solidFill>
                  <a:schemeClr val="accent1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भारत </a:t>
            </a:r>
            <a:pPr algn="ctr" indent="0" marL="0">
              <a:buNone/>
            </a:pPr>
            <a:r>
              <a:rPr lang="en-US" sz="17000" b="1" dirty="0">
                <a:solidFill>
                  <a:schemeClr val="accent1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5.0</a:t>
            </a:r>
            <a:endParaRPr lang="en-US" sz="17000" dirty="0"/>
          </a:p>
        </p:txBody>
      </p:sp>
      <p:sp>
        <p:nvSpPr>
          <p:cNvPr id="7" name="Text 5"/>
          <p:cNvSpPr txBox="1"/>
          <p:nvPr/>
        </p:nvSpPr>
        <p:spPr>
          <a:xfrm>
            <a:off x="4434840" y="57607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tx2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NATIONAL LEVEL HACKATHON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8412480" y="6355080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9025128" y="6355080"/>
            <a:ext cx="219456" cy="21945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646920" y="6355080"/>
            <a:ext cx="219456" cy="21945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143000" y="6565392"/>
            <a:ext cx="987552" cy="0"/>
          </a:xfrm>
          <a:prstGeom prst="line">
            <a:avLst/>
          </a:prstGeom>
          <a:noFill/>
          <a:ln w="635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1143000" y="696772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TEAM NAME: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6126480" y="696772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chemeClr val="tx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Revolutionaries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757123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PROBLEM STATEMENT: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6126480" y="7571232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chemeClr val="tx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VISTA – Semantic Search for Medical Reports using Box-Clustering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817473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TEAM MEMBERS: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6126480" y="8174736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chemeClr val="tx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Aditi, Ankit, Anant, Ansh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8778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COLLEGE: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6126480" y="87782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chemeClr val="tx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Pranveer Singh Institute of Technology, Kanpur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7" type="title" hasCustomPrompt="1"/>
          </p:nvPr>
        </p:nvSpPr>
        <p:spPr>
          <a:xfrm>
            <a:off x="896112" y="1783080"/>
            <a:ext cx="1627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b="1" dirty="0">
                <a:solidFill>
                  <a:schemeClr val="tx1"/>
                </a:solidFill>
              </a:rPr>
              <a:t>PROBLEM STATEMENT</a:t>
            </a:r>
            <a:endParaRPr lang="en-US" sz="5000" dirty="0"/>
          </a:p>
        </p:txBody>
      </p:sp>
      <p:sp>
        <p:nvSpPr>
          <p:cNvPr id="3" name="Shape 1"/>
          <p:cNvSpPr/>
          <p:nvPr/>
        </p:nvSpPr>
        <p:spPr>
          <a:xfrm>
            <a:off x="9418320" y="2240280"/>
            <a:ext cx="8366759" cy="0"/>
          </a:xfrm>
          <a:prstGeom prst="line">
            <a:avLst/>
          </a:prstGeom>
          <a:noFill/>
          <a:ln w="57150">
            <a:solidFill>
              <a:schemeClr val="accent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7657064" y="2112264"/>
            <a:ext cx="256032" cy="25603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3017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spc="200" kern="0" dirty="0">
                <a:solidFill>
                  <a:schemeClr val="accent1"/>
                </a:solidFill>
              </a:rPr>
              <a:t>BACKGROUND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42900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Hospitals generate millions of unstructured reports every year (discharge summaries, lab, radiology and prescriptions), often trapped in fragmented folders and legacy silos.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480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spc="200" kern="0" dirty="0">
                <a:solidFill>
                  <a:schemeClr val="accent1"/>
                </a:solidFill>
              </a:rPr>
              <a:t>KEY ISSUES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5029200"/>
            <a:ext cx="420624" cy="420624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1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493776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Keyword dependency: </a:t>
            </a:r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exact match misses synonyms, e.g. “Heart Attack” vs “Myocardial Infarction”.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5733288"/>
            <a:ext cx="420624" cy="420624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2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5641848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Slow retrieval: </a:t>
            </a:r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finding historical reports takes minutes and delays diagnosis.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8640" y="6437376"/>
            <a:ext cx="420624" cy="420624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3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6345936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Fragmented history: </a:t>
            </a:r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reports are scattered across departments, so there is no holistic patient view.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8640" y="7141464"/>
            <a:ext cx="420624" cy="420624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4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7050024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Poor scalability: </a:t>
            </a:r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manual retrieval is inefficient and error-prone as data lakes grow.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48640" y="7845552"/>
            <a:ext cx="420624" cy="420624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5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7754112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High compute cost: </a:t>
            </a:r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embedding every document is expensive to scale.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326880" y="3017520"/>
            <a:ext cx="8412480" cy="5394960"/>
          </a:xfrm>
          <a:prstGeom prst="roundRect">
            <a:avLst>
              <a:gd name="adj" fmla="val 2034"/>
            </a:avLst>
          </a:prstGeom>
          <a:solidFill>
            <a:schemeClr val="bg1">
              <a:alpha val="92000"/>
            </a:schemeClr>
          </a:solidFill>
          <a:ln w="19050">
            <a:solidFill>
              <a:schemeClr val="accent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326880" y="312724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Why keyword search fails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1384280" y="3703320"/>
            <a:ext cx="4297680" cy="566928"/>
          </a:xfrm>
          <a:prstGeom prst="roundRect">
            <a:avLst>
              <a:gd name="adj" fmla="val 19355"/>
            </a:avLst>
          </a:prstGeom>
          <a:solidFill>
            <a:schemeClr val="bg2"/>
          </a:solidFill>
          <a:ln w="25400">
            <a:solidFill>
              <a:schemeClr val="accent1"/>
            </a:solidFill>
          </a:ln>
        </p:spPr>
        <p:txBody>
          <a:bodyPr wrap="square" lIns="50800" tIns="101600" rIns="101600" bIns="508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Query: “Heart Attack”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13533120" y="4270248"/>
            <a:ext cx="0" cy="283464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11384280" y="4553712"/>
            <a:ext cx="4297680" cy="566928"/>
          </a:xfrm>
          <a:prstGeom prst="roundRect">
            <a:avLst>
              <a:gd name="adj" fmla="val 19355"/>
            </a:avLst>
          </a:prstGeom>
          <a:solidFill>
            <a:schemeClr val="bg1"/>
          </a:solidFill>
          <a:ln w="25400">
            <a:solidFill>
              <a:schemeClr val="accent6"/>
            </a:solidFill>
          </a:ln>
        </p:spPr>
        <p:txBody>
          <a:bodyPr wrap="square" lIns="50800" tIns="101600" rIns="101600" bIns="508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Exact keyword match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 flipH="1">
            <a:off x="11612880" y="5120640"/>
            <a:ext cx="822960" cy="41148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4630400" y="5120640"/>
            <a:ext cx="822960" cy="41148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9646920" y="5532120"/>
            <a:ext cx="3657600" cy="1024128"/>
          </a:xfrm>
          <a:prstGeom prst="roundRect">
            <a:avLst>
              <a:gd name="adj" fmla="val 10714"/>
            </a:avLst>
          </a:prstGeom>
          <a:solidFill>
            <a:schemeClr val="accent5"/>
          </a:solidFill>
          <a:ln w="25400">
            <a:solidFill>
              <a:schemeClr val="accent2"/>
            </a:solidFill>
          </a:ln>
        </p:spPr>
        <p:txBody>
          <a:bodyPr wrap="square" lIns="50800" tIns="101600" rIns="101600" bIns="508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✓ Found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“heart attack”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3761720" y="5532120"/>
            <a:ext cx="3657600" cy="1024128"/>
          </a:xfrm>
          <a:prstGeom prst="roundRect">
            <a:avLst>
              <a:gd name="adj" fmla="val 10714"/>
            </a:avLst>
          </a:prstGeom>
          <a:solidFill>
            <a:schemeClr val="bg2"/>
          </a:solidFill>
          <a:ln w="25400">
            <a:solidFill>
              <a:schemeClr val="accent1"/>
            </a:solidFill>
          </a:ln>
        </p:spPr>
        <p:txBody>
          <a:bodyPr wrap="square" lIns="50800" tIns="101600" rIns="101600" bIns="508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✗ Missed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“Myocardial Infarction”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9326880" y="664768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chemeClr val="accent6"/>
                </a:solidFill>
              </a:rPr>
              <a:t>Same meaning, different words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9692640" y="7059168"/>
            <a:ext cx="768096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dash"/>
          </a:ln>
        </p:spPr>
      </p:sp>
      <p:sp>
        <p:nvSpPr>
          <p:cNvPr id="29" name="Text 27"/>
          <p:cNvSpPr txBox="1"/>
          <p:nvPr/>
        </p:nvSpPr>
        <p:spPr>
          <a:xfrm>
            <a:off x="9326880" y="71323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Fragmented data silos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784080" y="7543800"/>
            <a:ext cx="2331720" cy="384048"/>
          </a:xfrm>
          <a:prstGeom prst="roundRect">
            <a:avLst>
              <a:gd name="adj" fmla="val 28571"/>
            </a:avLst>
          </a:prstGeom>
          <a:solidFill>
            <a:schemeClr val="bg1"/>
          </a:solidFill>
          <a:ln w="25400">
            <a:solidFill>
              <a:schemeClr val="accent6"/>
            </a:solidFill>
          </a:ln>
        </p:spPr>
        <p:txBody>
          <a:bodyPr wrap="square" lIns="50800" tIns="101600" rIns="101600" bIns="508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Folder A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2481560" y="7543800"/>
            <a:ext cx="2331720" cy="384048"/>
          </a:xfrm>
          <a:prstGeom prst="roundRect">
            <a:avLst>
              <a:gd name="adj" fmla="val 28571"/>
            </a:avLst>
          </a:prstGeom>
          <a:solidFill>
            <a:schemeClr val="bg1"/>
          </a:solidFill>
          <a:ln w="25400">
            <a:solidFill>
              <a:schemeClr val="accent6"/>
            </a:solidFill>
          </a:ln>
        </p:spPr>
        <p:txBody>
          <a:bodyPr wrap="square" lIns="50800" tIns="101600" rIns="101600" bIns="508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Folder B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5179040" y="7543800"/>
            <a:ext cx="2331720" cy="384048"/>
          </a:xfrm>
          <a:prstGeom prst="roundRect">
            <a:avLst>
              <a:gd name="adj" fmla="val 28571"/>
            </a:avLst>
          </a:prstGeom>
          <a:solidFill>
            <a:schemeClr val="bg1"/>
          </a:solidFill>
          <a:ln w="25400">
            <a:solidFill>
              <a:schemeClr val="accent6"/>
            </a:solidFill>
          </a:ln>
        </p:spPr>
        <p:txBody>
          <a:bodyPr wrap="square" lIns="50800" tIns="101600" rIns="101600" bIns="508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Folder C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326880" y="801928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Result: minutes to retrieve a single report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548640" y="8641080"/>
            <a:ext cx="17190720" cy="82296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22960" y="8641080"/>
            <a:ext cx="1664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Core problem: </a:t>
            </a:r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How can we retrieve medical reports by meaning, while keeping computational cost low for large-scale hospital data?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7373600" y="96012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7" type="title" hasCustomPrompt="1"/>
          </p:nvPr>
        </p:nvSpPr>
        <p:spPr>
          <a:xfrm>
            <a:off x="896112" y="1783080"/>
            <a:ext cx="1627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b="1" dirty="0">
                <a:solidFill>
                  <a:schemeClr val="tx1"/>
                </a:solidFill>
              </a:rPr>
              <a:t>SOLUTION</a:t>
            </a:r>
            <a:endParaRPr lang="en-US" sz="5000" dirty="0"/>
          </a:p>
        </p:txBody>
      </p:sp>
      <p:sp>
        <p:nvSpPr>
          <p:cNvPr id="3" name="Shape 1"/>
          <p:cNvSpPr/>
          <p:nvPr/>
        </p:nvSpPr>
        <p:spPr>
          <a:xfrm>
            <a:off x="4630547" y="2240280"/>
            <a:ext cx="13154533" cy="0"/>
          </a:xfrm>
          <a:prstGeom prst="line">
            <a:avLst/>
          </a:prstGeom>
          <a:noFill/>
          <a:ln w="5715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7657064" y="2112264"/>
            <a:ext cx="256032" cy="25603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2971800"/>
            <a:ext cx="17190720" cy="914400"/>
          </a:xfrm>
          <a:prstGeom prst="roundRect">
            <a:avLst>
              <a:gd name="adj" fmla="val 12000"/>
            </a:avLst>
          </a:prstGeom>
          <a:solidFill>
            <a:schemeClr val="bg2">
              <a:alpha val="92000"/>
            </a:schemeClr>
          </a:solidFill>
          <a:ln w="19050">
            <a:solidFill>
              <a:schemeClr val="accent4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822960" y="2971800"/>
            <a:ext cx="1664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accent1"/>
                </a:solidFill>
              </a:rPr>
              <a:t>VISTA</a:t>
            </a:r>
            <a:pPr indent="0" marL="0">
              <a:buNone/>
            </a:pPr>
            <a:r>
              <a:rPr lang="en-US" sz="2100" dirty="0">
                <a:solidFill>
                  <a:schemeClr val="tx2"/>
                </a:solidFill>
              </a:rPr>
              <a:t> (Vector Intelligent Semantic Search &amp; Text Analysis) is a semantic healthcare data warehouse that retrieves medical reports by their clinical meaning, not just keywords.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023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spc="200" kern="0" dirty="0">
                <a:solidFill>
                  <a:schemeClr val="accent1"/>
                </a:solidFill>
              </a:rPr>
              <a:t>BUILD TIME  ·  one-off batch pipeline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4434840"/>
            <a:ext cx="2560320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lIns="50800" tIns="101600" rIns="101600" bIns="5080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Medical reports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(PDF, scans, TXT)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3145536" y="4937760"/>
            <a:ext cx="292608" cy="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4434840"/>
            <a:ext cx="2560320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lIns="50800" tIns="101600" rIns="101600" bIns="5080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OCR + cleaning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071616" y="4937760"/>
            <a:ext cx="292608" cy="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00800" y="4434840"/>
            <a:ext cx="2560320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lIns="50800" tIns="101600" rIns="101600" bIns="5080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MiniLM embeddings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(384-D)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8997696" y="4937760"/>
            <a:ext cx="292608" cy="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326880" y="4434840"/>
            <a:ext cx="2560320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lIns="50800" tIns="101600" rIns="101600" bIns="5080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Box-Clustering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(K-Means)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11923776" y="4937760"/>
            <a:ext cx="292608" cy="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2252960" y="4434840"/>
            <a:ext cx="2560320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lIns="50800" tIns="101600" rIns="101600" bIns="5080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One summary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vector per box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14849856" y="4937760"/>
            <a:ext cx="292608" cy="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5179040" y="4434840"/>
            <a:ext cx="2560320" cy="1005840"/>
          </a:xfrm>
          <a:prstGeom prst="roundRect">
            <a:avLst>
              <a:gd name="adj" fmla="val 10909"/>
            </a:avLst>
          </a:prstGeom>
          <a:solidFill>
            <a:schemeClr val="accent5"/>
          </a:solidFill>
          <a:ln w="25400">
            <a:solidFill>
              <a:schemeClr val="accent2"/>
            </a:solidFill>
          </a:ln>
        </p:spPr>
        <p:txBody>
          <a:bodyPr wrap="square" lIns="50800" tIns="101600" rIns="101600" bIns="5080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accent2"/>
                </a:solidFill>
              </a:rPr>
              <a:t>Compact FAISS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chemeClr val="accent2"/>
                </a:solidFill>
              </a:rPr>
              <a:t>index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760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spc="200" kern="0" dirty="0">
                <a:solidFill>
                  <a:schemeClr val="accent2"/>
                </a:solidFill>
              </a:rPr>
              <a:t>QUERY TIME  ·  per search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48640" y="6172200"/>
            <a:ext cx="2926080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 w="25400">
            <a:solidFill>
              <a:schemeClr val="accent2"/>
            </a:solidFill>
          </a:ln>
        </p:spPr>
        <p:txBody>
          <a:bodyPr wrap="square" lIns="50800" tIns="101600" rIns="101600" bIns="5080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Doctor’s query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3511296" y="6675120"/>
            <a:ext cx="566928" cy="0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114800" y="6172200"/>
            <a:ext cx="2926080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 w="25400">
            <a:solidFill>
              <a:schemeClr val="accent2"/>
            </a:solidFill>
          </a:ln>
        </p:spPr>
        <p:txBody>
          <a:bodyPr wrap="square" lIns="50800" tIns="101600" rIns="101600" bIns="5080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Embed query</a:t>
            </a:r>
            <a:endParaRPr lang="en-US" sz="1900" dirty="0"/>
          </a:p>
        </p:txBody>
      </p:sp>
      <p:sp>
        <p:nvSpPr>
          <p:cNvPr id="23" name="Shape 21"/>
          <p:cNvSpPr/>
          <p:nvPr/>
        </p:nvSpPr>
        <p:spPr>
          <a:xfrm>
            <a:off x="7077456" y="6675120"/>
            <a:ext cx="566928" cy="0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680960" y="6172200"/>
            <a:ext cx="2926080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 w="25400">
            <a:solidFill>
              <a:schemeClr val="accent2"/>
            </a:solidFill>
          </a:ln>
        </p:spPr>
        <p:txBody>
          <a:bodyPr wrap="square" lIns="50800" tIns="101600" rIns="101600" bIns="5080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Nearest boxes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(FAISS lookup)</a:t>
            </a:r>
            <a:endParaRPr lang="en-US" sz="1900" dirty="0"/>
          </a:p>
        </p:txBody>
      </p:sp>
      <p:sp>
        <p:nvSpPr>
          <p:cNvPr id="25" name="Shape 23"/>
          <p:cNvSpPr/>
          <p:nvPr/>
        </p:nvSpPr>
        <p:spPr>
          <a:xfrm>
            <a:off x="10643616" y="6675120"/>
            <a:ext cx="566928" cy="0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11247120" y="6172200"/>
            <a:ext cx="2926080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 w="25400">
            <a:solidFill>
              <a:schemeClr val="accent2"/>
            </a:solidFill>
          </a:ln>
        </p:spPr>
        <p:txBody>
          <a:bodyPr wrap="square" lIns="50800" tIns="101600" rIns="101600" bIns="5080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Rerank by similarity,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then priority</a:t>
            </a:r>
            <a:endParaRPr lang="en-US" sz="1900" dirty="0"/>
          </a:p>
        </p:txBody>
      </p:sp>
      <p:sp>
        <p:nvSpPr>
          <p:cNvPr id="27" name="Shape 25"/>
          <p:cNvSpPr/>
          <p:nvPr/>
        </p:nvSpPr>
        <p:spPr>
          <a:xfrm>
            <a:off x="14209776" y="6675120"/>
            <a:ext cx="566928" cy="0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14813280" y="6172200"/>
            <a:ext cx="2926080" cy="1005840"/>
          </a:xfrm>
          <a:prstGeom prst="roundRect">
            <a:avLst>
              <a:gd name="adj" fmla="val 10909"/>
            </a:avLst>
          </a:prstGeom>
          <a:solidFill>
            <a:schemeClr val="accent2"/>
          </a:solidFill>
          <a:ln w="25400">
            <a:solidFill>
              <a:schemeClr val="accent2"/>
            </a:solidFill>
          </a:ln>
        </p:spPr>
        <p:txBody>
          <a:bodyPr wrap="square" lIns="50800" tIns="101600" rIns="101600" bIns="5080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Ranked results</a:t>
            </a:r>
            <a:endParaRPr lang="en-US" sz="1900" dirty="0"/>
          </a:p>
        </p:txBody>
      </p:sp>
      <p:sp>
        <p:nvSpPr>
          <p:cNvPr id="29" name="Shape 27"/>
          <p:cNvSpPr/>
          <p:nvPr/>
        </p:nvSpPr>
        <p:spPr>
          <a:xfrm>
            <a:off x="16459200" y="5440680"/>
            <a:ext cx="0" cy="155448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dash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 flipH="1">
            <a:off x="9144000" y="5596128"/>
            <a:ext cx="7315200" cy="0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dash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9144000" y="5596128"/>
            <a:ext cx="0" cy="557784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548640" y="7406640"/>
            <a:ext cx="3255264" cy="1280160"/>
          </a:xfrm>
          <a:prstGeom prst="roundRect">
            <a:avLst>
              <a:gd name="adj" fmla="val 8571"/>
            </a:avLst>
          </a:prstGeom>
          <a:solidFill>
            <a:schemeClr val="bg2">
              <a:alpha val="92000"/>
            </a:schemeClr>
          </a:solidFill>
          <a:ln w="19050">
            <a:solidFill>
              <a:schemeClr val="accent4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 txBox="1"/>
          <p:nvPr/>
        </p:nvSpPr>
        <p:spPr>
          <a:xfrm>
            <a:off x="731520" y="7498080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Semantic retrieval</a:t>
            </a:r>
            <a:endParaRPr lang="en-US" sz="1900" dirty="0"/>
          </a:p>
        </p:txBody>
      </p:sp>
      <p:sp>
        <p:nvSpPr>
          <p:cNvPr id="34" name="Text 32"/>
          <p:cNvSpPr txBox="1"/>
          <p:nvPr/>
        </p:nvSpPr>
        <p:spPr>
          <a:xfrm>
            <a:off x="731520" y="7909560"/>
            <a:ext cx="2889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Understands context and medical synonyms.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032504" y="7406640"/>
            <a:ext cx="3255264" cy="1280160"/>
          </a:xfrm>
          <a:prstGeom prst="roundRect">
            <a:avLst>
              <a:gd name="adj" fmla="val 8571"/>
            </a:avLst>
          </a:prstGeom>
          <a:solidFill>
            <a:schemeClr val="bg2">
              <a:alpha val="92000"/>
            </a:schemeClr>
          </a:solidFill>
          <a:ln w="19050">
            <a:solidFill>
              <a:schemeClr val="accent4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 txBox="1"/>
          <p:nvPr/>
        </p:nvSpPr>
        <p:spPr>
          <a:xfrm>
            <a:off x="4215384" y="7498080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Box-Clustering</a:t>
            </a:r>
            <a:endParaRPr lang="en-US" sz="1900" dirty="0"/>
          </a:p>
        </p:txBody>
      </p:sp>
      <p:sp>
        <p:nvSpPr>
          <p:cNvPr id="37" name="Text 35"/>
          <p:cNvSpPr txBox="1"/>
          <p:nvPr/>
        </p:nvSpPr>
        <p:spPr>
          <a:xfrm>
            <a:off x="4215384" y="7909560"/>
            <a:ext cx="2889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Similar reports grouped into semantic “boxes”.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516368" y="7406640"/>
            <a:ext cx="3255264" cy="1280160"/>
          </a:xfrm>
          <a:prstGeom prst="roundRect">
            <a:avLst>
              <a:gd name="adj" fmla="val 8571"/>
            </a:avLst>
          </a:prstGeom>
          <a:solidFill>
            <a:schemeClr val="bg2">
              <a:alpha val="92000"/>
            </a:schemeClr>
          </a:solidFill>
          <a:ln w="19050">
            <a:solidFill>
              <a:schemeClr val="accent4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 txBox="1"/>
          <p:nvPr/>
        </p:nvSpPr>
        <p:spPr>
          <a:xfrm>
            <a:off x="7699248" y="7498080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Faster search</a:t>
            </a:r>
            <a:endParaRPr lang="en-US" sz="1900" dirty="0"/>
          </a:p>
        </p:txBody>
      </p:sp>
      <p:sp>
        <p:nvSpPr>
          <p:cNvPr id="40" name="Text 38"/>
          <p:cNvSpPr txBox="1"/>
          <p:nvPr/>
        </p:nvSpPr>
        <p:spPr>
          <a:xfrm>
            <a:off x="7699248" y="7909560"/>
            <a:ext cx="2889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Design target: under 2 s per query (benchmark pending).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1000232" y="7406640"/>
            <a:ext cx="3255264" cy="1280160"/>
          </a:xfrm>
          <a:prstGeom prst="roundRect">
            <a:avLst>
              <a:gd name="adj" fmla="val 8571"/>
            </a:avLst>
          </a:prstGeom>
          <a:solidFill>
            <a:schemeClr val="bg2">
              <a:alpha val="92000"/>
            </a:schemeClr>
          </a:solidFill>
          <a:ln w="19050">
            <a:solidFill>
              <a:schemeClr val="accent4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 txBox="1"/>
          <p:nvPr/>
        </p:nvSpPr>
        <p:spPr>
          <a:xfrm>
            <a:off x="11183112" y="7498080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Compute efficiency</a:t>
            </a:r>
            <a:endParaRPr lang="en-US" sz="1900" dirty="0"/>
          </a:p>
        </p:txBody>
      </p:sp>
      <p:sp>
        <p:nvSpPr>
          <p:cNvPr id="43" name="Text 41"/>
          <p:cNvSpPr txBox="1"/>
          <p:nvPr/>
        </p:nvSpPr>
        <p:spPr>
          <a:xfrm>
            <a:off x="11183112" y="7909560"/>
            <a:ext cx="2889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98.8% fewer indexed vectors on our test run.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14484096" y="7406640"/>
            <a:ext cx="3255264" cy="1280160"/>
          </a:xfrm>
          <a:prstGeom prst="roundRect">
            <a:avLst>
              <a:gd name="adj" fmla="val 8571"/>
            </a:avLst>
          </a:prstGeom>
          <a:solidFill>
            <a:schemeClr val="bg2">
              <a:alpha val="92000"/>
            </a:schemeClr>
          </a:solidFill>
          <a:ln w="19050">
            <a:solidFill>
              <a:schemeClr val="accent4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 txBox="1"/>
          <p:nvPr/>
        </p:nvSpPr>
        <p:spPr>
          <a:xfrm>
            <a:off x="14666976" y="7498080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Priority-based results</a:t>
            </a:r>
            <a:endParaRPr lang="en-US" sz="1900" dirty="0"/>
          </a:p>
        </p:txBody>
      </p:sp>
      <p:sp>
        <p:nvSpPr>
          <p:cNvPr id="46" name="Text 44"/>
          <p:cNvSpPr txBox="1"/>
          <p:nvPr/>
        </p:nvSpPr>
        <p:spPr>
          <a:xfrm>
            <a:off x="14666976" y="7909560"/>
            <a:ext cx="28895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Cosine first; freshness, usage and importance break ties.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548640" y="8823960"/>
            <a:ext cx="8412480" cy="640080"/>
          </a:xfrm>
          <a:prstGeom prst="roundRect">
            <a:avLst>
              <a:gd name="adj" fmla="val 1714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 txBox="1"/>
          <p:nvPr/>
        </p:nvSpPr>
        <p:spPr>
          <a:xfrm>
            <a:off x="731520" y="88239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Working idea: </a:t>
            </a:r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a doctor enters “Elevated Troponin, Acute Myocardial Infarction”; VISTA surfaces the top-priority file.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7373600" y="96012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  <p:sp>
        <p:nvSpPr>
          <p:cNvPr id="49" name="Shape 45"/>
          <p:cNvSpPr/>
          <p:nvPr/>
        </p:nvSpPr>
        <p:spPr>
          <a:xfrm>
            <a:off x="9326880" y="8823960"/>
            <a:ext cx="8412480" cy="640080"/>
          </a:xfrm>
          <a:prstGeom prst="roundRect">
            <a:avLst>
              <a:gd name="adj" fmla="val 1714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50" name="Text 46"/>
          <p:cNvSpPr txBox="1"/>
          <p:nvPr/>
        </p:nvSpPr>
        <p:spPr>
          <a:xfrm>
            <a:off x="9509760" y="88239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Expected impact: </a:t>
            </a:r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past cases in seconds, not minutes; larger archives searched on modest hardware; PII kept out of the vector index.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7" type="title" hasCustomPrompt="1"/>
          </p:nvPr>
        </p:nvSpPr>
        <p:spPr>
          <a:xfrm>
            <a:off x="896112" y="1783080"/>
            <a:ext cx="1627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b="1" dirty="0">
                <a:solidFill>
                  <a:schemeClr val="tx1"/>
                </a:solidFill>
              </a:rPr>
              <a:t>FLOW OF SOLUTION</a:t>
            </a:r>
            <a:endParaRPr lang="en-US" sz="5000" dirty="0"/>
          </a:p>
        </p:txBody>
      </p:sp>
      <p:sp>
        <p:nvSpPr>
          <p:cNvPr id="3" name="Shape 1"/>
          <p:cNvSpPr/>
          <p:nvPr/>
        </p:nvSpPr>
        <p:spPr>
          <a:xfrm>
            <a:off x="8595360" y="2240280"/>
            <a:ext cx="9189719" cy="0"/>
          </a:xfrm>
          <a:prstGeom prst="line">
            <a:avLst/>
          </a:prstGeom>
          <a:noFill/>
          <a:ln w="5715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7657064" y="2112264"/>
            <a:ext cx="256032" cy="25603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3017520"/>
            <a:ext cx="2514600" cy="1691640"/>
          </a:xfrm>
          <a:prstGeom prst="roundRect">
            <a:avLst>
              <a:gd name="adj" fmla="val 6486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INGEST &amp;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PREPARE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805940" y="4736592"/>
            <a:ext cx="0" cy="310896"/>
          </a:xfrm>
          <a:prstGeom prst="line">
            <a:avLst/>
          </a:prstGeom>
          <a:noFill/>
          <a:ln w="38100">
            <a:solidFill>
              <a:schemeClr val="accent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520440" y="3017520"/>
            <a:ext cx="4389120" cy="1691640"/>
          </a:xfrm>
          <a:prstGeom prst="roundRect">
            <a:avLst>
              <a:gd name="adj" fmla="val 6486"/>
            </a:avLst>
          </a:prstGeom>
          <a:solidFill>
            <a:schemeClr val="bg1">
              <a:alpha val="92000"/>
            </a:schemeClr>
          </a:solidFill>
          <a:ln w="254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721608" y="3200400"/>
            <a:ext cx="475488" cy="475488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343400" y="3200400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Data Ingestion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3749040" y="3822192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Raw reports (PDF, images, TXT) collected through the ETL pipeline.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955280" y="3863340"/>
            <a:ext cx="411480" cy="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8412480" y="3017520"/>
            <a:ext cx="4389120" cy="1691640"/>
          </a:xfrm>
          <a:prstGeom prst="roundRect">
            <a:avLst>
              <a:gd name="adj" fmla="val 6486"/>
            </a:avLst>
          </a:prstGeom>
          <a:solidFill>
            <a:schemeClr val="bg1">
              <a:alpha val="92000"/>
            </a:schemeClr>
          </a:solidFill>
          <a:ln w="254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613648" y="3200400"/>
            <a:ext cx="475488" cy="475488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9235440" y="3200400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Cleaning &amp; Deduplication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8641080" y="3822192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Remove corrupt, duplicate and malformed files for data quality.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2847320" y="3863340"/>
            <a:ext cx="411480" cy="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13304520" y="3017520"/>
            <a:ext cx="4389120" cy="1691640"/>
          </a:xfrm>
          <a:prstGeom prst="roundRect">
            <a:avLst>
              <a:gd name="adj" fmla="val 6486"/>
            </a:avLst>
          </a:prstGeom>
          <a:solidFill>
            <a:schemeClr val="bg1">
              <a:alpha val="92000"/>
            </a:schemeClr>
          </a:solidFill>
          <a:ln w="254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3505688" y="3200400"/>
            <a:ext cx="475488" cy="475488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4127480" y="3200400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OCR Extraction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13533120" y="3822192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PaddleOCR reads scans; PyMuPDF parses digital PDFs.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48640" y="5074920"/>
            <a:ext cx="2514600" cy="1691640"/>
          </a:xfrm>
          <a:prstGeom prst="roundRect">
            <a:avLst>
              <a:gd name="adj" fmla="val 6486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STORE &amp;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ANALYSE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1805940" y="6793992"/>
            <a:ext cx="0" cy="310896"/>
          </a:xfrm>
          <a:prstGeom prst="line">
            <a:avLst/>
          </a:prstGeom>
          <a:noFill/>
          <a:ln w="38100">
            <a:solidFill>
              <a:schemeClr val="accent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3520440" y="5074920"/>
            <a:ext cx="4389120" cy="1691640"/>
          </a:xfrm>
          <a:prstGeom prst="roundRect">
            <a:avLst>
              <a:gd name="adj" fmla="val 6486"/>
            </a:avLst>
          </a:prstGeom>
          <a:solidFill>
            <a:schemeClr val="bg1">
              <a:alpha val="92000"/>
            </a:schemeClr>
          </a:solidFill>
          <a:ln w="254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3721608" y="5257800"/>
            <a:ext cx="475488" cy="475488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4343400" y="5257800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Storage</a:t>
            </a:r>
            <a:endParaRPr lang="en-US" sz="2100" dirty="0"/>
          </a:p>
        </p:txBody>
      </p:sp>
      <p:sp>
        <p:nvSpPr>
          <p:cNvPr id="26" name="Text 24"/>
          <p:cNvSpPr txBox="1"/>
          <p:nvPr/>
        </p:nvSpPr>
        <p:spPr>
          <a:xfrm>
            <a:off x="3749040" y="5879592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Raw files in MinIO; metadata in Neon, linked by document_id.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7955280" y="5920740"/>
            <a:ext cx="411480" cy="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8412480" y="5074920"/>
            <a:ext cx="4389120" cy="1691640"/>
          </a:xfrm>
          <a:prstGeom prst="roundRect">
            <a:avLst>
              <a:gd name="adj" fmla="val 6486"/>
            </a:avLst>
          </a:prstGeom>
          <a:solidFill>
            <a:schemeClr val="bg1">
              <a:alpha val="92000"/>
            </a:schemeClr>
          </a:solidFill>
          <a:ln w="254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8613648" y="5257800"/>
            <a:ext cx="475488" cy="475488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9235440" y="5257800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Metadata Analytics</a:t>
            </a:r>
            <a:endParaRPr lang="en-US" sz="2100" dirty="0"/>
          </a:p>
        </p:txBody>
      </p:sp>
      <p:sp>
        <p:nvSpPr>
          <p:cNvPr id="31" name="Text 29"/>
          <p:cNvSpPr txBox="1"/>
          <p:nvPr/>
        </p:nvSpPr>
        <p:spPr>
          <a:xfrm>
            <a:off x="8641080" y="5879592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DuckDB computes freshness and call frequency for priority scoring.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2847320" y="5920740"/>
            <a:ext cx="411480" cy="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3304520" y="5074920"/>
            <a:ext cx="4389120" cy="1691640"/>
          </a:xfrm>
          <a:prstGeom prst="roundRect">
            <a:avLst>
              <a:gd name="adj" fmla="val 6486"/>
            </a:avLst>
          </a:prstGeom>
          <a:solidFill>
            <a:schemeClr val="bg1">
              <a:alpha val="92000"/>
            </a:schemeClr>
          </a:solidFill>
          <a:ln w="254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13505688" y="5257800"/>
            <a:ext cx="475488" cy="475488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6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14127480" y="5257800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Text Vectorization</a:t>
            </a:r>
            <a:endParaRPr lang="en-US" sz="2100" dirty="0"/>
          </a:p>
        </p:txBody>
      </p:sp>
      <p:sp>
        <p:nvSpPr>
          <p:cNvPr id="36" name="Text 34"/>
          <p:cNvSpPr txBox="1"/>
          <p:nvPr/>
        </p:nvSpPr>
        <p:spPr>
          <a:xfrm>
            <a:off x="13533120" y="5879592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all-MiniLM-L6-v2 turns cleaned text into 384-D vectors.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48640" y="7132320"/>
            <a:ext cx="2514600" cy="1691640"/>
          </a:xfrm>
          <a:prstGeom prst="roundRect">
            <a:avLst>
              <a:gd name="adj" fmla="val 6486"/>
            </a:avLst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CLUSTER &amp;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SERVE</a:t>
            </a:r>
            <a:endParaRPr lang="en-US" sz="2400" dirty="0"/>
          </a:p>
        </p:txBody>
      </p:sp>
      <p:sp>
        <p:nvSpPr>
          <p:cNvPr id="38" name="Shape 36"/>
          <p:cNvSpPr/>
          <p:nvPr/>
        </p:nvSpPr>
        <p:spPr>
          <a:xfrm>
            <a:off x="3520440" y="7132320"/>
            <a:ext cx="4389120" cy="1691640"/>
          </a:xfrm>
          <a:prstGeom prst="roundRect">
            <a:avLst>
              <a:gd name="adj" fmla="val 6486"/>
            </a:avLst>
          </a:prstGeom>
          <a:solidFill>
            <a:schemeClr val="bg1">
              <a:alpha val="92000"/>
            </a:schemeClr>
          </a:solidFill>
          <a:ln w="2540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3721608" y="7315200"/>
            <a:ext cx="475488" cy="47548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7</a:t>
            </a:r>
            <a:endParaRPr lang="en-US" sz="1800" dirty="0"/>
          </a:p>
        </p:txBody>
      </p:sp>
      <p:sp>
        <p:nvSpPr>
          <p:cNvPr id="40" name="Text 38"/>
          <p:cNvSpPr txBox="1"/>
          <p:nvPr/>
        </p:nvSpPr>
        <p:spPr>
          <a:xfrm>
            <a:off x="4343400" y="7315200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Similarity &amp; Clustering</a:t>
            </a:r>
            <a:endParaRPr lang="en-US" sz="2100" dirty="0"/>
          </a:p>
        </p:txBody>
      </p:sp>
      <p:sp>
        <p:nvSpPr>
          <p:cNvPr id="41" name="Text 39"/>
          <p:cNvSpPr txBox="1"/>
          <p:nvPr/>
        </p:nvSpPr>
        <p:spPr>
          <a:xfrm>
            <a:off x="3749040" y="7936992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Cosine similarity, then K-Means groups reports into semantic boxes.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7955280" y="7978140"/>
            <a:ext cx="411480" cy="0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8412480" y="7132320"/>
            <a:ext cx="4389120" cy="1691640"/>
          </a:xfrm>
          <a:prstGeom prst="roundRect">
            <a:avLst>
              <a:gd name="adj" fmla="val 6486"/>
            </a:avLst>
          </a:prstGeom>
          <a:solidFill>
            <a:schemeClr val="bg1">
              <a:alpha val="92000"/>
            </a:schemeClr>
          </a:solidFill>
          <a:ln w="2540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8613648" y="7315200"/>
            <a:ext cx="475488" cy="47548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8</a:t>
            </a:r>
            <a:endParaRPr lang="en-US" sz="1800" dirty="0"/>
          </a:p>
        </p:txBody>
      </p:sp>
      <p:sp>
        <p:nvSpPr>
          <p:cNvPr id="45" name="Text 43"/>
          <p:cNvSpPr txBox="1"/>
          <p:nvPr/>
        </p:nvSpPr>
        <p:spPr>
          <a:xfrm>
            <a:off x="9235440" y="7315200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Box Summary &amp; Indexing</a:t>
            </a:r>
            <a:endParaRPr lang="en-US" sz="2100" dirty="0"/>
          </a:p>
        </p:txBody>
      </p:sp>
      <p:sp>
        <p:nvSpPr>
          <p:cNvPr id="46" name="Text 44"/>
          <p:cNvSpPr txBox="1"/>
          <p:nvPr/>
        </p:nvSpPr>
        <p:spPr>
          <a:xfrm>
            <a:off x="8641080" y="7936992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Summarise each box; index only box embeddings in FAISS.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12847320" y="7978140"/>
            <a:ext cx="411480" cy="0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13304520" y="7132320"/>
            <a:ext cx="4389120" cy="1691640"/>
          </a:xfrm>
          <a:prstGeom prst="roundRect">
            <a:avLst>
              <a:gd name="adj" fmla="val 6486"/>
            </a:avLst>
          </a:prstGeom>
          <a:solidFill>
            <a:schemeClr val="accent5">
              <a:alpha val="92000"/>
            </a:schemeClr>
          </a:solidFill>
          <a:ln w="2540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13505688" y="7315200"/>
            <a:ext cx="475488" cy="47548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9</a:t>
            </a:r>
            <a:endParaRPr lang="en-US" sz="1800" dirty="0"/>
          </a:p>
        </p:txBody>
      </p:sp>
      <p:sp>
        <p:nvSpPr>
          <p:cNvPr id="50" name="Text 48"/>
          <p:cNvSpPr txBox="1"/>
          <p:nvPr/>
        </p:nvSpPr>
        <p:spPr>
          <a:xfrm>
            <a:off x="14127480" y="7315200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chemeClr val="tx1"/>
                </a:solidFill>
              </a:rPr>
              <a:t>Semantic Retrieval</a:t>
            </a:r>
            <a:endParaRPr lang="en-US" sz="2100" dirty="0"/>
          </a:p>
        </p:txBody>
      </p:sp>
      <p:sp>
        <p:nvSpPr>
          <p:cNvPr id="51" name="Text 49"/>
          <p:cNvSpPr txBox="1"/>
          <p:nvPr/>
        </p:nvSpPr>
        <p:spPr>
          <a:xfrm>
            <a:off x="13533120" y="7936992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Query → nearest boxes → rerank by cosine, then priority.</a:t>
            </a:r>
            <a:endParaRPr lang="en-US" sz="1800" dirty="0"/>
          </a:p>
        </p:txBody>
      </p:sp>
      <p:sp>
        <p:nvSpPr>
          <p:cNvPr id="52" name="Text 50"/>
          <p:cNvSpPr txBox="1"/>
          <p:nvPr/>
        </p:nvSpPr>
        <p:spPr>
          <a:xfrm>
            <a:off x="3520440" y="8961120"/>
            <a:ext cx="1417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chemeClr val="accent6"/>
                </a:solidFill>
              </a:rPr>
              <a:t>Steps 1–8 run as an offline batch; step 9 runs on every search.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7373600" y="96012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7" type="title" hasCustomPrompt="1"/>
          </p:nvPr>
        </p:nvSpPr>
        <p:spPr>
          <a:xfrm>
            <a:off x="896112" y="1783080"/>
            <a:ext cx="1627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b="1" dirty="0">
                <a:solidFill>
                  <a:schemeClr val="tx1"/>
                </a:solidFill>
              </a:rPr>
              <a:t>TECH STACK</a:t>
            </a:r>
            <a:endParaRPr lang="en-US" sz="5000" dirty="0"/>
          </a:p>
        </p:txBody>
      </p:sp>
      <p:sp>
        <p:nvSpPr>
          <p:cNvPr id="3" name="Shape 1"/>
          <p:cNvSpPr/>
          <p:nvPr/>
        </p:nvSpPr>
        <p:spPr>
          <a:xfrm>
            <a:off x="5852160" y="2240280"/>
            <a:ext cx="11932919" cy="0"/>
          </a:xfrm>
          <a:prstGeom prst="line">
            <a:avLst/>
          </a:prstGeom>
          <a:noFill/>
          <a:ln w="5715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7657064" y="2112264"/>
            <a:ext cx="256032" cy="25603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2999232"/>
            <a:ext cx="17190720" cy="841248"/>
          </a:xfrm>
          <a:prstGeom prst="roundRect">
            <a:avLst>
              <a:gd name="adj" fmla="val 13043"/>
            </a:avLst>
          </a:prstGeom>
          <a:solidFill>
            <a:schemeClr val="bg2">
              <a:alpha val="92000"/>
            </a:schemeClr>
          </a:solidFill>
          <a:ln w="19050">
            <a:solidFill>
              <a:schemeClr val="accent4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48640" y="2999232"/>
            <a:ext cx="3291840" cy="841248"/>
          </a:xfrm>
          <a:prstGeom prst="roundRect">
            <a:avLst>
              <a:gd name="adj" fmla="val 1304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3191256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999232"/>
            <a:ext cx="2468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USER INTERFACE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114800" y="3108960"/>
            <a:ext cx="4328160" cy="621792"/>
          </a:xfrm>
          <a:prstGeom prst="roundRect">
            <a:avLst>
              <a:gd name="adj" fmla="val 14706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4206240" y="3108960"/>
            <a:ext cx="4145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Streamlit workspace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Technician: upload, monitor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717280" y="3108960"/>
            <a:ext cx="4328160" cy="621792"/>
          </a:xfrm>
          <a:prstGeom prst="roundRect">
            <a:avLst>
              <a:gd name="adj" fmla="val 14706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8808720" y="3108960"/>
            <a:ext cx="4145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Next.js workspace (planned)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Doctor: search, read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3319760" y="3108960"/>
            <a:ext cx="4328160" cy="621792"/>
          </a:xfrm>
          <a:prstGeom prst="roundRect">
            <a:avLst>
              <a:gd name="adj" fmla="val 14706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13411200" y="3108960"/>
            <a:ext cx="4145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Box Explorer + Analytics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Cluster map, quality metrics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2194560" y="3867912"/>
            <a:ext cx="0" cy="182880"/>
          </a:xfrm>
          <a:prstGeom prst="line">
            <a:avLst/>
          </a:prstGeom>
          <a:noFill/>
          <a:ln w="38100">
            <a:solidFill>
              <a:schemeClr val="accent6"/>
            </a:solidFill>
            <a:prstDash val="solid"/>
            <a:headEnd type="triangle"/>
            <a:tailEnd type="triangle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48640" y="4078224"/>
            <a:ext cx="17190720" cy="841248"/>
          </a:xfrm>
          <a:prstGeom prst="roundRect">
            <a:avLst>
              <a:gd name="adj" fmla="val 13043"/>
            </a:avLst>
          </a:prstGeom>
          <a:solidFill>
            <a:schemeClr val="bg2">
              <a:alpha val="92000"/>
            </a:schemeClr>
          </a:solidFill>
          <a:ln w="19050">
            <a:solidFill>
              <a:schemeClr val="accent4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48640" y="4078224"/>
            <a:ext cx="3291840" cy="841248"/>
          </a:xfrm>
          <a:prstGeom prst="roundRect">
            <a:avLst>
              <a:gd name="adj" fmla="val 1304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31520" y="4270248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2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4078224"/>
            <a:ext cx="2468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API LAYER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114800" y="4187952"/>
            <a:ext cx="4328160" cy="621792"/>
          </a:xfrm>
          <a:prstGeom prst="roundRect">
            <a:avLst>
              <a:gd name="adj" fmla="val 14706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4206240" y="4187952"/>
            <a:ext cx="4145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Ingestion API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FastAPI · Python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717280" y="4187952"/>
            <a:ext cx="4328160" cy="621792"/>
          </a:xfrm>
          <a:prstGeom prst="roundRect">
            <a:avLst>
              <a:gd name="adj" fmla="val 14706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8808720" y="4187952"/>
            <a:ext cx="4145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Clustering API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FastAPI · Python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3319760" y="4187952"/>
            <a:ext cx="4328160" cy="621792"/>
          </a:xfrm>
          <a:prstGeom prst="roundRect">
            <a:avLst>
              <a:gd name="adj" fmla="val 14706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13411200" y="4187952"/>
            <a:ext cx="4145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Search API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FastAPI · Python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2194560" y="4946904"/>
            <a:ext cx="0" cy="182880"/>
          </a:xfrm>
          <a:prstGeom prst="line">
            <a:avLst/>
          </a:prstGeom>
          <a:noFill/>
          <a:ln w="38100">
            <a:solidFill>
              <a:schemeClr val="accent6"/>
            </a:solidFill>
            <a:prstDash val="solid"/>
            <a:headEnd type="triangle"/>
            <a:tailEnd type="triangle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548640" y="5157216"/>
            <a:ext cx="17190720" cy="841248"/>
          </a:xfrm>
          <a:prstGeom prst="roundRect">
            <a:avLst>
              <a:gd name="adj" fmla="val 13043"/>
            </a:avLst>
          </a:prstGeom>
          <a:solidFill>
            <a:schemeClr val="bg2">
              <a:alpha val="92000"/>
            </a:schemeClr>
          </a:solidFill>
          <a:ln w="19050">
            <a:solidFill>
              <a:schemeClr val="accent4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548640" y="5157216"/>
            <a:ext cx="3291840" cy="841248"/>
          </a:xfrm>
          <a:prstGeom prst="roundRect">
            <a:avLst>
              <a:gd name="adj" fmla="val 1304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731520" y="5349240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3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1325880" y="5157216"/>
            <a:ext cx="2468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PROCESSING PIPELINE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4114800" y="5266944"/>
            <a:ext cx="3177540" cy="621792"/>
          </a:xfrm>
          <a:prstGeom prst="roundRect">
            <a:avLst>
              <a:gd name="adj" fmla="val 14706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 txBox="1"/>
          <p:nvPr/>
        </p:nvSpPr>
        <p:spPr>
          <a:xfrm>
            <a:off x="4206240" y="5266944"/>
            <a:ext cx="29946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OCR &amp; parsing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PaddleOCR · PyMuPDF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7566660" y="5266944"/>
            <a:ext cx="3177540" cy="621792"/>
          </a:xfrm>
          <a:prstGeom prst="roundRect">
            <a:avLst>
              <a:gd name="adj" fmla="val 14706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 txBox="1"/>
          <p:nvPr/>
        </p:nvSpPr>
        <p:spPr>
          <a:xfrm>
            <a:off x="7658100" y="5266944"/>
            <a:ext cx="29946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Clean &amp; deduplicate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Quality filter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1018520" y="5266944"/>
            <a:ext cx="3177540" cy="621792"/>
          </a:xfrm>
          <a:prstGeom prst="roundRect">
            <a:avLst>
              <a:gd name="adj" fmla="val 14706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 txBox="1"/>
          <p:nvPr/>
        </p:nvSpPr>
        <p:spPr>
          <a:xfrm>
            <a:off x="11109960" y="5266944"/>
            <a:ext cx="29946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Embeddings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Sentence Transformers · 384-D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4470380" y="5266944"/>
            <a:ext cx="3177540" cy="621792"/>
          </a:xfrm>
          <a:prstGeom prst="roundRect">
            <a:avLst>
              <a:gd name="adj" fmla="val 14706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 txBox="1"/>
          <p:nvPr/>
        </p:nvSpPr>
        <p:spPr>
          <a:xfrm>
            <a:off x="14561820" y="5266944"/>
            <a:ext cx="29946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Box-Clustering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K-Means + cosine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2194560" y="6025896"/>
            <a:ext cx="0" cy="182880"/>
          </a:xfrm>
          <a:prstGeom prst="line">
            <a:avLst/>
          </a:prstGeom>
          <a:noFill/>
          <a:ln w="38100">
            <a:solidFill>
              <a:schemeClr val="accent6"/>
            </a:solidFill>
            <a:prstDash val="solid"/>
            <a:headEnd type="triangle"/>
            <a:tailEnd type="triangle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548640" y="6236208"/>
            <a:ext cx="17190720" cy="841248"/>
          </a:xfrm>
          <a:prstGeom prst="roundRect">
            <a:avLst>
              <a:gd name="adj" fmla="val 13043"/>
            </a:avLst>
          </a:prstGeom>
          <a:solidFill>
            <a:schemeClr val="accent5">
              <a:alpha val="92000"/>
            </a:schemeClr>
          </a:solidFill>
          <a:ln w="1905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548640" y="6236208"/>
            <a:ext cx="3291840" cy="841248"/>
          </a:xfrm>
          <a:prstGeom prst="roundRect">
            <a:avLst>
              <a:gd name="adj" fmla="val 1304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731520" y="6428232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4</a:t>
            </a:r>
            <a:endParaRPr lang="en-US" sz="1800" dirty="0"/>
          </a:p>
        </p:txBody>
      </p:sp>
      <p:sp>
        <p:nvSpPr>
          <p:cNvPr id="43" name="Text 41"/>
          <p:cNvSpPr txBox="1"/>
          <p:nvPr/>
        </p:nvSpPr>
        <p:spPr>
          <a:xfrm>
            <a:off x="1325880" y="6236208"/>
            <a:ext cx="2468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SEMANTIC INDEX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4114800" y="6345936"/>
            <a:ext cx="4328160" cy="621792"/>
          </a:xfrm>
          <a:prstGeom prst="roundRect">
            <a:avLst>
              <a:gd name="adj" fmla="val 14706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 txBox="1"/>
          <p:nvPr/>
        </p:nvSpPr>
        <p:spPr>
          <a:xfrm>
            <a:off x="4206240" y="6345936"/>
            <a:ext cx="4145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FAISS flat index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Box summary vectors only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8717280" y="6345936"/>
            <a:ext cx="4328160" cy="621792"/>
          </a:xfrm>
          <a:prstGeom prst="roundRect">
            <a:avLst>
              <a:gd name="adj" fmla="val 14706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 txBox="1"/>
          <p:nvPr/>
        </p:nvSpPr>
        <p:spPr>
          <a:xfrm>
            <a:off x="8808720" y="6345936"/>
            <a:ext cx="4145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Priority Score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Freshness + call frequency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13319760" y="6345936"/>
            <a:ext cx="4328160" cy="621792"/>
          </a:xfrm>
          <a:prstGeom prst="roundRect">
            <a:avLst>
              <a:gd name="adj" fmla="val 14706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 txBox="1"/>
          <p:nvPr/>
        </p:nvSpPr>
        <p:spPr>
          <a:xfrm>
            <a:off x="13411200" y="6345936"/>
            <a:ext cx="4145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Box → files map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Ranked inside each box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2194560" y="7104888"/>
            <a:ext cx="0" cy="182880"/>
          </a:xfrm>
          <a:prstGeom prst="line">
            <a:avLst/>
          </a:prstGeom>
          <a:noFill/>
          <a:ln w="38100">
            <a:solidFill>
              <a:schemeClr val="accent6"/>
            </a:solidFill>
            <a:prstDash val="solid"/>
            <a:headEnd type="triangle"/>
            <a:tailEnd type="triangle"/>
          </a:ln>
        </p:spPr>
        <p:txBody>
          <a:bodyPr/>
          <a:p/>
        </p:txBody>
      </p:sp>
      <p:sp>
        <p:nvSpPr>
          <p:cNvPr id="51" name="Shape 49"/>
          <p:cNvSpPr/>
          <p:nvPr/>
        </p:nvSpPr>
        <p:spPr>
          <a:xfrm>
            <a:off x="548640" y="7315200"/>
            <a:ext cx="17190720" cy="841248"/>
          </a:xfrm>
          <a:prstGeom prst="roundRect">
            <a:avLst>
              <a:gd name="adj" fmla="val 13043"/>
            </a:avLst>
          </a:prstGeom>
          <a:solidFill>
            <a:schemeClr val="bg2">
              <a:alpha val="92000"/>
            </a:schemeClr>
          </a:solidFill>
          <a:ln w="19050">
            <a:solidFill>
              <a:schemeClr val="accent4"/>
            </a:solidFill>
            <a:prstDash val="solid"/>
          </a:ln>
        </p:spPr>
        <p:txBody>
          <a:bodyPr/>
          <a:p/>
        </p:txBody>
      </p:sp>
      <p:sp>
        <p:nvSpPr>
          <p:cNvPr id="52" name="Shape 50"/>
          <p:cNvSpPr/>
          <p:nvPr/>
        </p:nvSpPr>
        <p:spPr>
          <a:xfrm>
            <a:off x="548640" y="7315200"/>
            <a:ext cx="3291840" cy="841248"/>
          </a:xfrm>
          <a:prstGeom prst="roundRect">
            <a:avLst>
              <a:gd name="adj" fmla="val 1304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731520" y="7507224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5</a:t>
            </a:r>
            <a:endParaRPr lang="en-US" sz="1800" dirty="0"/>
          </a:p>
        </p:txBody>
      </p:sp>
      <p:sp>
        <p:nvSpPr>
          <p:cNvPr id="54" name="Text 52"/>
          <p:cNvSpPr txBox="1"/>
          <p:nvPr/>
        </p:nvSpPr>
        <p:spPr>
          <a:xfrm>
            <a:off x="1325880" y="7315200"/>
            <a:ext cx="2468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DATA LAYER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4114800" y="7424928"/>
            <a:ext cx="4328160" cy="621792"/>
          </a:xfrm>
          <a:prstGeom prst="roundRect">
            <a:avLst>
              <a:gd name="adj" fmla="val 14706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 txBox="1"/>
          <p:nvPr/>
        </p:nvSpPr>
        <p:spPr>
          <a:xfrm>
            <a:off x="4206240" y="7424928"/>
            <a:ext cx="4145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MinIO (S3)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Raw PDFs, images, TXT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8717280" y="7424928"/>
            <a:ext cx="4328160" cy="621792"/>
          </a:xfrm>
          <a:prstGeom prst="roundRect">
            <a:avLst>
              <a:gd name="adj" fmla="val 14706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 txBox="1"/>
          <p:nvPr/>
        </p:nvSpPr>
        <p:spPr>
          <a:xfrm>
            <a:off x="8808720" y="7424928"/>
            <a:ext cx="4145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Neon PostgreSQL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Metadata via document_id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13319760" y="7424928"/>
            <a:ext cx="4328160" cy="621792"/>
          </a:xfrm>
          <a:prstGeom prst="roundRect">
            <a:avLst>
              <a:gd name="adj" fmla="val 14706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 txBox="1"/>
          <p:nvPr/>
        </p:nvSpPr>
        <p:spPr>
          <a:xfrm>
            <a:off x="13411200" y="7424928"/>
            <a:ext cx="4145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DuckDB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Usage analytics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2194560" y="8183880"/>
            <a:ext cx="0" cy="182880"/>
          </a:xfrm>
          <a:prstGeom prst="line">
            <a:avLst/>
          </a:prstGeom>
          <a:noFill/>
          <a:ln w="38100">
            <a:solidFill>
              <a:schemeClr val="accent6"/>
            </a:solidFill>
            <a:prstDash val="solid"/>
            <a:headEnd type="triangle"/>
            <a:tailEnd type="triangle"/>
          </a:ln>
        </p:spPr>
        <p:txBody>
          <a:bodyPr/>
          <a:p/>
        </p:txBody>
      </p:sp>
      <p:sp>
        <p:nvSpPr>
          <p:cNvPr id="62" name="Shape 60"/>
          <p:cNvSpPr/>
          <p:nvPr/>
        </p:nvSpPr>
        <p:spPr>
          <a:xfrm>
            <a:off x="548640" y="8394192"/>
            <a:ext cx="17190720" cy="841248"/>
          </a:xfrm>
          <a:prstGeom prst="roundRect">
            <a:avLst>
              <a:gd name="adj" fmla="val 13043"/>
            </a:avLst>
          </a:prstGeom>
          <a:solidFill>
            <a:schemeClr val="bg2">
              <a:alpha val="92000"/>
            </a:schemeClr>
          </a:solidFill>
          <a:ln w="19050">
            <a:solidFill>
              <a:schemeClr val="accent4"/>
            </a:solidFill>
            <a:prstDash val="solid"/>
          </a:ln>
        </p:spPr>
        <p:txBody>
          <a:bodyPr/>
          <a:p/>
        </p:txBody>
      </p:sp>
      <p:sp>
        <p:nvSpPr>
          <p:cNvPr id="63" name="Shape 61"/>
          <p:cNvSpPr/>
          <p:nvPr/>
        </p:nvSpPr>
        <p:spPr>
          <a:xfrm>
            <a:off x="548640" y="8394192"/>
            <a:ext cx="3291840" cy="841248"/>
          </a:xfrm>
          <a:prstGeom prst="roundRect">
            <a:avLst>
              <a:gd name="adj" fmla="val 1304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731520" y="8586216"/>
            <a:ext cx="4572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6</a:t>
            </a:r>
            <a:endParaRPr lang="en-US" sz="1800" dirty="0"/>
          </a:p>
        </p:txBody>
      </p:sp>
      <p:sp>
        <p:nvSpPr>
          <p:cNvPr id="65" name="Text 63"/>
          <p:cNvSpPr txBox="1"/>
          <p:nvPr/>
        </p:nvSpPr>
        <p:spPr>
          <a:xfrm>
            <a:off x="1325880" y="8394192"/>
            <a:ext cx="2468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DEVOPS</a:t>
            </a:r>
            <a:endParaRPr lang="en-US" sz="1800" dirty="0"/>
          </a:p>
        </p:txBody>
      </p:sp>
      <p:sp>
        <p:nvSpPr>
          <p:cNvPr id="66" name="Shape 64"/>
          <p:cNvSpPr/>
          <p:nvPr/>
        </p:nvSpPr>
        <p:spPr>
          <a:xfrm>
            <a:off x="4114800" y="8503920"/>
            <a:ext cx="6629400" cy="621792"/>
          </a:xfrm>
          <a:prstGeom prst="roundRect">
            <a:avLst>
              <a:gd name="adj" fmla="val 14706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67" name="Text 65"/>
          <p:cNvSpPr txBox="1"/>
          <p:nvPr/>
        </p:nvSpPr>
        <p:spPr>
          <a:xfrm>
            <a:off x="4206240" y="8503920"/>
            <a:ext cx="6446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Docker · Docker Compose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Containerised, reproducible deployment</a:t>
            </a:r>
            <a:endParaRPr lang="en-US" sz="1800" dirty="0"/>
          </a:p>
        </p:txBody>
      </p:sp>
      <p:sp>
        <p:nvSpPr>
          <p:cNvPr id="68" name="Shape 66"/>
          <p:cNvSpPr/>
          <p:nvPr/>
        </p:nvSpPr>
        <p:spPr>
          <a:xfrm>
            <a:off x="11018520" y="8503920"/>
            <a:ext cx="6629400" cy="621792"/>
          </a:xfrm>
          <a:prstGeom prst="roundRect">
            <a:avLst>
              <a:gd name="adj" fmla="val 14706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69" name="Text 67"/>
          <p:cNvSpPr txBox="1"/>
          <p:nvPr/>
        </p:nvSpPr>
        <p:spPr>
          <a:xfrm>
            <a:off x="11109960" y="8503920"/>
            <a:ext cx="6446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Open-source batch pipeline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Runs locally; Neon free tier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7373600" y="96012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7" type="title" hasCustomPrompt="1"/>
          </p:nvPr>
        </p:nvSpPr>
        <p:spPr>
          <a:xfrm>
            <a:off x="896112" y="1783080"/>
            <a:ext cx="1627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b="1" dirty="0">
                <a:solidFill>
                  <a:schemeClr val="tx1"/>
                </a:solidFill>
              </a:rPr>
              <a:t>UNIQUE SELLING PROPOSITION (USP)</a:t>
            </a:r>
            <a:endParaRPr lang="en-US" sz="5000" dirty="0"/>
          </a:p>
        </p:txBody>
      </p:sp>
      <p:sp>
        <p:nvSpPr>
          <p:cNvPr id="3" name="Shape 1"/>
          <p:cNvSpPr/>
          <p:nvPr/>
        </p:nvSpPr>
        <p:spPr>
          <a:xfrm>
            <a:off x="14538960" y="2240280"/>
            <a:ext cx="3246119" cy="0"/>
          </a:xfrm>
          <a:prstGeom prst="line">
            <a:avLst/>
          </a:prstGeom>
          <a:noFill/>
          <a:ln w="5715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7657064" y="2112264"/>
            <a:ext cx="256032" cy="25603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3017520"/>
            <a:ext cx="8595360" cy="6309360"/>
          </a:xfrm>
          <a:prstGeom prst="roundRect">
            <a:avLst>
              <a:gd name="adj" fmla="val 1739"/>
            </a:avLst>
          </a:prstGeom>
          <a:solidFill>
            <a:schemeClr val="bg2">
              <a:alpha val="92000"/>
            </a:schemeClr>
          </a:solidFill>
          <a:ln w="19050">
            <a:solidFill>
              <a:schemeClr val="accent4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868680" y="3200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spc="200" kern="0" dirty="0">
                <a:solidFill>
                  <a:schemeClr val="accent1"/>
                </a:solidFill>
              </a:rPr>
              <a:t>CORE USP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611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chemeClr val="tx1"/>
                </a:solidFill>
              </a:rPr>
              <a:t>Box-Clustering over per-document indexing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2062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accent6"/>
                </a:solidFill>
              </a:rPr>
              <a:t>“Fewer, richer vectors” instead of “many, compressed vectors”.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8920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Traditional flat index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68680" y="5303520"/>
            <a:ext cx="7772400" cy="548640"/>
          </a:xfrm>
          <a:prstGeom prst="roundRect">
            <a:avLst>
              <a:gd name="adj" fmla="val 13333"/>
            </a:avLst>
          </a:prstGeom>
          <a:solidFill>
            <a:schemeClr val="accent4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1,000 document vectors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60350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VISTA box index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868680" y="6446520"/>
            <a:ext cx="128016" cy="5486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1188720" y="64465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12 box vectors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731520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0" b="1" dirty="0">
                <a:solidFill>
                  <a:schemeClr val="accent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98.8%</a:t>
            </a:r>
            <a:endParaRPr lang="en-US" sz="66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740664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fewer indexed vectors (1,000 → 12 on our test run)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85953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Saved test run; the prototype now holds 7,248 reports in the same 12 boxes. Recall@k vs a flat index is next.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418320" y="3017520"/>
            <a:ext cx="3977640" cy="2011680"/>
          </a:xfrm>
          <a:prstGeom prst="roundRect">
            <a:avLst>
              <a:gd name="adj" fmla="val 5455"/>
            </a:avLst>
          </a:prstGeom>
          <a:solidFill>
            <a:schemeClr val="bg1">
              <a:alpha val="92000"/>
            </a:schemeClr>
          </a:solidFill>
          <a:ln w="19050">
            <a:solidFill>
              <a:schemeClr val="accent4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9619488" y="32004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  <p:txBody>
          <a:bodyPr/>
          <a:p/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0" y="3364992"/>
            <a:ext cx="310896" cy="310896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10424160" y="31546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Meaning over keywords</a:t>
            </a:r>
            <a:endParaRPr lang="en-US" sz="1900" dirty="0"/>
          </a:p>
        </p:txBody>
      </p:sp>
      <p:sp>
        <p:nvSpPr>
          <p:cNvPr id="21" name="Text 18"/>
          <p:cNvSpPr txBox="1"/>
          <p:nvPr/>
        </p:nvSpPr>
        <p:spPr>
          <a:xfrm>
            <a:off x="9646920" y="3977640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Understands clinical terms and synonyms, whatever the phrasing.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13761720" y="3017520"/>
            <a:ext cx="3977640" cy="2011680"/>
          </a:xfrm>
          <a:prstGeom prst="roundRect">
            <a:avLst>
              <a:gd name="adj" fmla="val 5455"/>
            </a:avLst>
          </a:prstGeom>
          <a:solidFill>
            <a:schemeClr val="bg1">
              <a:alpha val="92000"/>
            </a:schemeClr>
          </a:solidFill>
          <a:ln w="19050">
            <a:solidFill>
              <a:schemeClr val="accent4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13962888" y="32004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  <p:txBody>
          <a:bodyPr/>
          <a:p/>
        </p:txBody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27480" y="3364992"/>
            <a:ext cx="310896" cy="310896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14767560" y="31546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Compute-efficient &amp; scalable</a:t>
            </a:r>
            <a:endParaRPr lang="en-US" sz="1900" dirty="0"/>
          </a:p>
        </p:txBody>
      </p:sp>
      <p:sp>
        <p:nvSpPr>
          <p:cNvPr id="26" name="Text 22"/>
          <p:cNvSpPr txBox="1"/>
          <p:nvPr/>
        </p:nvSpPr>
        <p:spPr>
          <a:xfrm>
            <a:off x="13990320" y="3977640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Smaller FAISS index and lower search cost; runs on modest hardware.</a:t>
            </a:r>
            <a:endParaRPr lang="en-US" sz="1800" dirty="0"/>
          </a:p>
        </p:txBody>
      </p:sp>
      <p:sp>
        <p:nvSpPr>
          <p:cNvPr id="27" name="Shape 23"/>
          <p:cNvSpPr/>
          <p:nvPr/>
        </p:nvSpPr>
        <p:spPr>
          <a:xfrm>
            <a:off x="9418320" y="5166360"/>
            <a:ext cx="3977640" cy="2011680"/>
          </a:xfrm>
          <a:prstGeom prst="roundRect">
            <a:avLst>
              <a:gd name="adj" fmla="val 5455"/>
            </a:avLst>
          </a:prstGeom>
          <a:solidFill>
            <a:schemeClr val="bg1">
              <a:alpha val="92000"/>
            </a:schemeClr>
          </a:solidFill>
          <a:ln w="19050">
            <a:solidFill>
              <a:schemeClr val="accent4"/>
            </a:solidFill>
            <a:prstDash val="solid"/>
          </a:ln>
        </p:spPr>
        <p:txBody>
          <a:bodyPr/>
          <a:p/>
        </p:txBody>
      </p:sp>
      <p:sp>
        <p:nvSpPr>
          <p:cNvPr id="28" name="Shape 24"/>
          <p:cNvSpPr/>
          <p:nvPr/>
        </p:nvSpPr>
        <p:spPr>
          <a:xfrm>
            <a:off x="9619488" y="53492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  <p:txBody>
          <a:bodyPr/>
          <a:p/>
        </p:txBody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0" y="5513832"/>
            <a:ext cx="310896" cy="310896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10424160" y="53035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Priority-aware retrieval</a:t>
            </a:r>
            <a:endParaRPr lang="en-US" sz="1900" dirty="0"/>
          </a:p>
        </p:txBody>
      </p:sp>
      <p:sp>
        <p:nvSpPr>
          <p:cNvPr id="31" name="Text 26"/>
          <p:cNvSpPr txBox="1"/>
          <p:nvPr/>
        </p:nvSpPr>
        <p:spPr>
          <a:xfrm>
            <a:off x="9646920" y="6126480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Similarity first; freshness, call frequency and importance break ties.</a:t>
            </a:r>
            <a:endParaRPr lang="en-US" sz="1800" dirty="0"/>
          </a:p>
        </p:txBody>
      </p:sp>
      <p:sp>
        <p:nvSpPr>
          <p:cNvPr id="32" name="Shape 27"/>
          <p:cNvSpPr/>
          <p:nvPr/>
        </p:nvSpPr>
        <p:spPr>
          <a:xfrm>
            <a:off x="13761720" y="5166360"/>
            <a:ext cx="3977640" cy="2011680"/>
          </a:xfrm>
          <a:prstGeom prst="roundRect">
            <a:avLst>
              <a:gd name="adj" fmla="val 5455"/>
            </a:avLst>
          </a:prstGeom>
          <a:solidFill>
            <a:schemeClr val="bg1">
              <a:alpha val="92000"/>
            </a:schemeClr>
          </a:solidFill>
          <a:ln w="19050">
            <a:solidFill>
              <a:schemeClr val="accent4"/>
            </a:solidFill>
            <a:prstDash val="solid"/>
          </a:ln>
        </p:spPr>
        <p:txBody>
          <a:bodyPr/>
          <a:p/>
        </p:txBody>
      </p:sp>
      <p:sp>
        <p:nvSpPr>
          <p:cNvPr id="33" name="Shape 28"/>
          <p:cNvSpPr/>
          <p:nvPr/>
        </p:nvSpPr>
        <p:spPr>
          <a:xfrm>
            <a:off x="13962888" y="53492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  <p:txBody>
          <a:bodyPr/>
          <a:p/>
        </p:txBody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27480" y="5513832"/>
            <a:ext cx="310896" cy="310896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14767560" y="53035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Metadata-first privacy</a:t>
            </a:r>
            <a:endParaRPr lang="en-US" sz="1900" dirty="0"/>
          </a:p>
        </p:txBody>
      </p:sp>
      <p:sp>
        <p:nvSpPr>
          <p:cNvPr id="36" name="Text 30"/>
          <p:cNvSpPr txBox="1"/>
          <p:nvPr/>
        </p:nvSpPr>
        <p:spPr>
          <a:xfrm>
            <a:off x="13990320" y="6126480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PII stays in Neon; only box-level summaries enter vector space.</a:t>
            </a:r>
            <a:endParaRPr lang="en-US" sz="1800" dirty="0"/>
          </a:p>
        </p:txBody>
      </p:sp>
      <p:sp>
        <p:nvSpPr>
          <p:cNvPr id="37" name="Shape 31"/>
          <p:cNvSpPr/>
          <p:nvPr/>
        </p:nvSpPr>
        <p:spPr>
          <a:xfrm>
            <a:off x="9418320" y="7315200"/>
            <a:ext cx="3977640" cy="2011680"/>
          </a:xfrm>
          <a:prstGeom prst="roundRect">
            <a:avLst>
              <a:gd name="adj" fmla="val 5455"/>
            </a:avLst>
          </a:prstGeom>
          <a:solidFill>
            <a:schemeClr val="bg1">
              <a:alpha val="92000"/>
            </a:schemeClr>
          </a:solidFill>
          <a:ln w="19050">
            <a:solidFill>
              <a:schemeClr val="accent4"/>
            </a:solidFill>
            <a:prstDash val="solid"/>
          </a:ln>
        </p:spPr>
        <p:txBody>
          <a:bodyPr/>
          <a:p/>
        </p:txBody>
      </p:sp>
      <p:sp>
        <p:nvSpPr>
          <p:cNvPr id="38" name="Shape 32"/>
          <p:cNvSpPr/>
          <p:nvPr/>
        </p:nvSpPr>
        <p:spPr>
          <a:xfrm>
            <a:off x="9619488" y="74980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  <p:txBody>
          <a:bodyPr/>
          <a:p/>
        </p:txBody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4080" y="7662672"/>
            <a:ext cx="310896" cy="310896"/>
          </a:xfrm>
          <a:prstGeom prst="rect">
            <a:avLst/>
          </a:prstGeom>
        </p:spPr>
      </p:pic>
      <p:sp>
        <p:nvSpPr>
          <p:cNvPr id="40" name="Text 33"/>
          <p:cNvSpPr txBox="1"/>
          <p:nvPr/>
        </p:nvSpPr>
        <p:spPr>
          <a:xfrm>
            <a:off x="10424160" y="745236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Hybrid intelligence</a:t>
            </a:r>
            <a:endParaRPr lang="en-US" sz="1900" dirty="0"/>
          </a:p>
        </p:txBody>
      </p:sp>
      <p:sp>
        <p:nvSpPr>
          <p:cNvPr id="41" name="Text 34"/>
          <p:cNvSpPr txBox="1"/>
          <p:nvPr/>
        </p:nvSpPr>
        <p:spPr>
          <a:xfrm>
            <a:off x="9646920" y="8275320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Semantic search, clustering and analytical scoring in one warehouse.</a:t>
            </a:r>
            <a:endParaRPr lang="en-US" sz="1800" dirty="0"/>
          </a:p>
        </p:txBody>
      </p:sp>
      <p:sp>
        <p:nvSpPr>
          <p:cNvPr id="42" name="Shape 35"/>
          <p:cNvSpPr/>
          <p:nvPr/>
        </p:nvSpPr>
        <p:spPr>
          <a:xfrm>
            <a:off x="13761720" y="7315200"/>
            <a:ext cx="3977640" cy="2011680"/>
          </a:xfrm>
          <a:prstGeom prst="roundRect">
            <a:avLst>
              <a:gd name="adj" fmla="val 5455"/>
            </a:avLst>
          </a:prstGeom>
          <a:solidFill>
            <a:schemeClr val="bg1">
              <a:alpha val="92000"/>
            </a:schemeClr>
          </a:solidFill>
          <a:ln w="19050">
            <a:solidFill>
              <a:schemeClr val="accent4"/>
            </a:solidFill>
            <a:prstDash val="solid"/>
          </a:ln>
        </p:spPr>
        <p:txBody>
          <a:bodyPr/>
          <a:p/>
        </p:txBody>
      </p:sp>
      <p:sp>
        <p:nvSpPr>
          <p:cNvPr id="43" name="Shape 36"/>
          <p:cNvSpPr/>
          <p:nvPr/>
        </p:nvSpPr>
        <p:spPr>
          <a:xfrm>
            <a:off x="13962888" y="74980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  <p:txBody>
          <a:bodyPr/>
          <a:p/>
        </p:txBody>
      </p:sp>
      <p:pic>
        <p:nvPicPr>
          <p:cNvPr id="4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127480" y="7662672"/>
            <a:ext cx="310896" cy="310896"/>
          </a:xfrm>
          <a:prstGeom prst="rect">
            <a:avLst/>
          </a:prstGeom>
        </p:spPr>
      </p:pic>
      <p:sp>
        <p:nvSpPr>
          <p:cNvPr id="45" name="Text 37"/>
          <p:cNvSpPr txBox="1"/>
          <p:nvPr/>
        </p:nvSpPr>
        <p:spPr>
          <a:xfrm>
            <a:off x="14767560" y="745236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Open-source &amp; low-cost</a:t>
            </a:r>
            <a:endParaRPr lang="en-US" sz="1900" dirty="0"/>
          </a:p>
        </p:txBody>
      </p:sp>
      <p:sp>
        <p:nvSpPr>
          <p:cNvPr id="46" name="Text 38"/>
          <p:cNvSpPr txBox="1"/>
          <p:nvPr/>
        </p:nvSpPr>
        <p:spPr>
          <a:xfrm>
            <a:off x="13990320" y="8275320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Free tools, local Docker deployment, Neon free tier.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7373600" y="96012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7" type="title" hasCustomPrompt="1"/>
          </p:nvPr>
        </p:nvSpPr>
        <p:spPr>
          <a:xfrm>
            <a:off x="896112" y="1783080"/>
            <a:ext cx="1627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b="1" dirty="0">
                <a:solidFill>
                  <a:schemeClr val="tx1"/>
                </a:solidFill>
              </a:rPr>
              <a:t>FEASIBILITY &amp; COMPETITORS</a:t>
            </a:r>
            <a:endParaRPr lang="en-US" sz="5000" dirty="0"/>
          </a:p>
        </p:txBody>
      </p:sp>
      <p:sp>
        <p:nvSpPr>
          <p:cNvPr id="3" name="Shape 1"/>
          <p:cNvSpPr/>
          <p:nvPr/>
        </p:nvSpPr>
        <p:spPr>
          <a:xfrm>
            <a:off x="11612880" y="2240280"/>
            <a:ext cx="6172200" cy="0"/>
          </a:xfrm>
          <a:prstGeom prst="line">
            <a:avLst/>
          </a:prstGeom>
          <a:noFill/>
          <a:ln w="5715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7657064" y="2112264"/>
            <a:ext cx="256032" cy="25603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3017520"/>
            <a:ext cx="4091940" cy="1645920"/>
          </a:xfrm>
          <a:prstGeom prst="roundRect">
            <a:avLst>
              <a:gd name="adj" fmla="val 6667"/>
            </a:avLst>
          </a:prstGeom>
          <a:solidFill>
            <a:schemeClr val="accent5">
              <a:alpha val="92000"/>
            </a:schemeClr>
          </a:solidFill>
          <a:ln w="1905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777240" y="3108960"/>
            <a:ext cx="3634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200" kern="0" dirty="0">
                <a:solidFill>
                  <a:schemeClr val="accent2"/>
                </a:solidFill>
              </a:rPr>
              <a:t>TECHNICAL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456432"/>
            <a:ext cx="36347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chemeClr val="tx1"/>
                </a:solidFill>
              </a:rPr>
              <a:t>Highly feasible</a:t>
            </a:r>
            <a:endParaRPr lang="en-US" sz="2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950208"/>
            <a:ext cx="36347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Open-source, well-documented tools; working prototype built.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914900" y="3017520"/>
            <a:ext cx="4091940" cy="1645920"/>
          </a:xfrm>
          <a:prstGeom prst="roundRect">
            <a:avLst>
              <a:gd name="adj" fmla="val 6667"/>
            </a:avLst>
          </a:prstGeom>
          <a:solidFill>
            <a:schemeClr val="accent5">
              <a:alpha val="92000"/>
            </a:schemeClr>
          </a:solidFill>
          <a:ln w="1905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5143500" y="3108960"/>
            <a:ext cx="3634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200" kern="0" dirty="0">
                <a:solidFill>
                  <a:schemeClr val="accent2"/>
                </a:solidFill>
              </a:rPr>
              <a:t>ECONOMIC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143500" y="3456432"/>
            <a:ext cx="36347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chemeClr val="tx1"/>
                </a:solidFill>
              </a:rPr>
              <a:t>Cost effective</a:t>
            </a:r>
            <a:endParaRPr lang="en-US" sz="2300" dirty="0"/>
          </a:p>
        </p:txBody>
      </p:sp>
      <p:sp>
        <p:nvSpPr>
          <p:cNvPr id="12" name="Text 10"/>
          <p:cNvSpPr txBox="1"/>
          <p:nvPr/>
        </p:nvSpPr>
        <p:spPr>
          <a:xfrm>
            <a:off x="5143500" y="3950208"/>
            <a:ext cx="36347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Mostly free tools; local Docker plus Neon free tier.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281160" y="3017520"/>
            <a:ext cx="4091940" cy="1645920"/>
          </a:xfrm>
          <a:prstGeom prst="roundRect">
            <a:avLst>
              <a:gd name="adj" fmla="val 6667"/>
            </a:avLst>
          </a:prstGeom>
          <a:solidFill>
            <a:schemeClr val="accent5">
              <a:alpha val="92000"/>
            </a:schemeClr>
          </a:solidFill>
          <a:ln w="1905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9509760" y="3108960"/>
            <a:ext cx="3634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200" kern="0" dirty="0">
                <a:solidFill>
                  <a:schemeClr val="accent2"/>
                </a:solidFill>
              </a:rPr>
              <a:t>OPERATIONAL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509760" y="3456432"/>
            <a:ext cx="36347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chemeClr val="tx1"/>
                </a:solidFill>
              </a:rPr>
              <a:t>Pragmatic</a:t>
            </a:r>
            <a:endParaRPr lang="en-US" sz="2300" dirty="0"/>
          </a:p>
        </p:txBody>
      </p:sp>
      <p:sp>
        <p:nvSpPr>
          <p:cNvPr id="16" name="Text 14"/>
          <p:cNvSpPr txBox="1"/>
          <p:nvPr/>
        </p:nvSpPr>
        <p:spPr>
          <a:xfrm>
            <a:off x="9509760" y="3950208"/>
            <a:ext cx="36347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Batch ingestion fits existing hospital archives.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3647420" y="3017520"/>
            <a:ext cx="4091940" cy="1645920"/>
          </a:xfrm>
          <a:prstGeom prst="roundRect">
            <a:avLst>
              <a:gd name="adj" fmla="val 6667"/>
            </a:avLst>
          </a:prstGeom>
          <a:solidFill>
            <a:schemeClr val="accent5">
              <a:alpha val="92000"/>
            </a:schemeClr>
          </a:solidFill>
          <a:ln w="1905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13876020" y="3108960"/>
            <a:ext cx="3634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200" kern="0" dirty="0">
                <a:solidFill>
                  <a:schemeClr val="accent2"/>
                </a:solidFill>
              </a:rPr>
              <a:t>HARDWARE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3876020" y="3456432"/>
            <a:ext cx="36347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chemeClr val="tx1"/>
                </a:solidFill>
              </a:rPr>
              <a:t>Research-ready</a:t>
            </a:r>
            <a:endParaRPr lang="en-US" sz="2300" dirty="0"/>
          </a:p>
        </p:txBody>
      </p:sp>
      <p:sp>
        <p:nvSpPr>
          <p:cNvPr id="20" name="Text 18"/>
          <p:cNvSpPr txBox="1"/>
          <p:nvPr/>
        </p:nvSpPr>
        <p:spPr>
          <a:xfrm>
            <a:off x="13876020" y="3950208"/>
            <a:ext cx="36347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Box-level indexing keeps memory and compute low.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846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spc="200" kern="0" dirty="0">
                <a:solidFill>
                  <a:schemeClr val="accent1"/>
                </a:solidFill>
              </a:rPr>
              <a:t>CHALLENGES &amp; MITIGATION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548640" y="5303520"/>
            <a:ext cx="8138160" cy="1234440"/>
          </a:xfrm>
          <a:prstGeom prst="roundRect">
            <a:avLst>
              <a:gd name="adj" fmla="val 8889"/>
            </a:avLst>
          </a:prstGeom>
          <a:solidFill>
            <a:schemeClr val="bg2">
              <a:alpha val="92000"/>
            </a:schemeClr>
          </a:solidFill>
          <a:ln w="19050">
            <a:solidFill>
              <a:schemeClr val="accent4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777240" y="541324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Cluster quality and missed reports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" y="580644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Boxes overlap (silhouette 0.0443) yet purity is 95.5%. Rerank inside top boxes, tune K and benchmark Recall@k.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548640" y="6675120"/>
            <a:ext cx="8138160" cy="1234440"/>
          </a:xfrm>
          <a:prstGeom prst="roundRect">
            <a:avLst>
              <a:gd name="adj" fmla="val 8889"/>
            </a:avLst>
          </a:prstGeom>
          <a:solidFill>
            <a:schemeClr val="bg2">
              <a:alpha val="92000"/>
            </a:schemeClr>
          </a:solidFill>
          <a:ln w="19050">
            <a:solidFill>
              <a:schemeClr val="accent4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777240" y="678484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OCR noise on poor scans</a:t>
            </a:r>
            <a:endParaRPr lang="en-US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" y="717804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Cleaning, deduplication and cached OCR before embedding.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548640" y="8046720"/>
            <a:ext cx="8138160" cy="1234440"/>
          </a:xfrm>
          <a:prstGeom prst="roundRect">
            <a:avLst>
              <a:gd name="adj" fmla="val 8889"/>
            </a:avLst>
          </a:prstGeom>
          <a:solidFill>
            <a:schemeClr val="bg2">
              <a:alpha val="92000"/>
            </a:schemeClr>
          </a:solidFill>
          <a:ln w="19050">
            <a:solidFill>
              <a:schemeClr val="accent4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 txBox="1"/>
          <p:nvPr/>
        </p:nvSpPr>
        <p:spPr>
          <a:xfrm>
            <a:off x="777240" y="815644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De-identification and rollout</a:t>
            </a:r>
            <a:endParaRPr lang="en-US" sz="1900" dirty="0"/>
          </a:p>
        </p:txBody>
      </p:sp>
      <p:sp>
        <p:nvSpPr>
          <p:cNvPr id="30" name="Text 28"/>
          <p:cNvSpPr txBox="1"/>
          <p:nvPr/>
        </p:nvSpPr>
        <p:spPr>
          <a:xfrm>
            <a:off x="777240" y="854964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chemeClr val="tx2"/>
                </a:solidFill>
              </a:rPr>
              <a:t>De-ID is not built yet: pilot on de-identified data with clinician review before any clinical use.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9144000" y="4846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spc="200" kern="0" dirty="0">
                <a:solidFill>
                  <a:schemeClr val="accent1"/>
                </a:solidFill>
              </a:rPr>
              <a:t>COMPETITOR LANDSCAPE</a:t>
            </a:r>
            <a:endParaRPr lang="en-US" sz="2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0" y="5303520"/>
          <a:ext cx="85953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920240"/>
                <a:gridCol w="39319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COMPETITOR</a:t>
                      </a:r>
                      <a:endParaRPr lang="en-US" sz="16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TYPE</a:t>
                      </a:r>
                      <a:endParaRPr lang="en-US" sz="16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VS. VISTA</a:t>
                      </a:r>
                      <a:endParaRPr lang="en-US" sz="16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</a:rPr>
                        <a:t>Elasticsearch (semantic + vector)</a:t>
                      </a:r>
                      <a:endParaRPr lang="en-US" sz="16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General-purpose search</a:t>
                      </a:r>
                      <a:endParaRPr lang="en-US" sz="16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Per-document vectors mean a much larger index; no box-clustering.</a:t>
                      </a:r>
                      <a:endParaRPr lang="en-US" sz="16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</a:rPr>
                        <a:t>Google Vertex AI Search (Healthcare)</a:t>
                      </a:r>
                      <a:endParaRPr lang="en-US" sz="16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Enterprise cloud</a:t>
                      </a:r>
                      <a:endParaRPr lang="en-US" sz="16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Managed and healthcare-focused, but costly and closed source.</a:t>
                      </a:r>
                      <a:endParaRPr lang="en-US" sz="16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</a:rPr>
                        <a:t>Pinecone / Weaviate / Milvus</a:t>
                      </a:r>
                      <a:endParaRPr lang="en-US" sz="16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Vector databases</a:t>
                      </a:r>
                      <a:endParaRPr lang="en-US" sz="16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Scale well, but no integrated ETL, OCR, clustering or priority scoring.</a:t>
                      </a:r>
                      <a:endParaRPr lang="en-US" sz="16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</a:rPr>
                        <a:t>OpenEvidence</a:t>
                      </a:r>
                      <a:endParaRPr lang="en-US" sz="16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AI clinical search</a:t>
                      </a:r>
                      <a:endParaRPr lang="en-US" sz="16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Searches medical literature; VISTA searches internal hospital reports.</a:t>
                      </a:r>
                      <a:endParaRPr lang="en-US" sz="16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2"/>
                          </a:solidFill>
                        </a:rPr>
                        <a:t>VISTA (ours)</a:t>
                      </a:r>
                      <a:endParaRPr lang="en-US" sz="16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2"/>
                          </a:solidFill>
                        </a:rPr>
                        <a:t>Semantic warehouse</a:t>
                      </a:r>
                      <a:endParaRPr lang="en-US" sz="16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2"/>
                          </a:solidFill>
                        </a:rPr>
                        <a:t>OCR → box-clustering → priority ranking in one open-source, local stack.</a:t>
                      </a:r>
                      <a:endParaRPr lang="en-US" sz="1600" dirty="0"/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7373600" y="96012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7" type="title" hasCustomPrompt="1"/>
          </p:nvPr>
        </p:nvSpPr>
        <p:spPr>
          <a:xfrm>
            <a:off x="896112" y="1783080"/>
            <a:ext cx="1627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b="1" dirty="0">
                <a:solidFill>
                  <a:schemeClr val="tx1"/>
                </a:solidFill>
              </a:rPr>
              <a:t>RESEARCH &amp; REFERENCE</a:t>
            </a:r>
            <a:endParaRPr lang="en-US" sz="5000" dirty="0"/>
          </a:p>
        </p:txBody>
      </p:sp>
      <p:sp>
        <p:nvSpPr>
          <p:cNvPr id="3" name="Shape 1"/>
          <p:cNvSpPr/>
          <p:nvPr/>
        </p:nvSpPr>
        <p:spPr>
          <a:xfrm>
            <a:off x="10424160" y="2240280"/>
            <a:ext cx="7360919" cy="0"/>
          </a:xfrm>
          <a:prstGeom prst="line">
            <a:avLst/>
          </a:prstGeom>
          <a:noFill/>
          <a:ln w="5715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7657064" y="2112264"/>
            <a:ext cx="256032" cy="25603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548640" y="3017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spc="200" kern="0" dirty="0">
                <a:solidFill>
                  <a:schemeClr val="accent1"/>
                </a:solidFill>
              </a:rPr>
              <a:t>RESEARCH BASIS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3511296"/>
            <a:ext cx="402336" cy="402336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3474720"/>
            <a:ext cx="9509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Semantic similarity: </a:t>
            </a:r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cosine distance removes document-length bias.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4096512"/>
            <a:ext cx="402336" cy="402336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4059936"/>
            <a:ext cx="9509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Efficient clustering: </a:t>
            </a:r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K-Means groups medical text by latent meaning.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4681728"/>
            <a:ext cx="402336" cy="402336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4645152"/>
            <a:ext cx="9509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Vector search: </a:t>
            </a:r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FAISS is fast; the box-first approach shrinks the search space.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8640" y="5266944"/>
            <a:ext cx="402336" cy="402336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5230368"/>
            <a:ext cx="9509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Lightweight embeddings: </a:t>
            </a:r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all-MiniLM-L6-v2 balances accuracy and speed.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8640" y="5852160"/>
            <a:ext cx="402336" cy="402336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5815584"/>
            <a:ext cx="9509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Data lake architecture: </a:t>
            </a:r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object storage, warehouse, analytics and a vector layer.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46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spc="200" kern="0" dirty="0">
                <a:solidFill>
                  <a:schemeClr val="accent1"/>
                </a:solidFill>
              </a:rPr>
              <a:t>REFERENCES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858000"/>
            <a:ext cx="10241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[1] Johnson, J., Douze, M., &amp; Jégou, H. (2019). Billion-scale similarity search with GPUs. IEEE Trans. on Big Data.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[2] Reimers, N., &amp; Gurevych, I. (2019). Sentence-BERT: Sentence Embeddings using Siamese BERT-Networks. EMNLP.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[3] MTSamples. Medical Transcription Samples Dataset.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[4] PaddlePaddle. PaddleOCR: Awesome multilingual OCR toolkits (GitHub).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[5] MinIO. High Performance Object Storage (Documentation).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[6] Neon. Serverless Postgres (Documentation).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[7] DuckDB. An in-process SQL OLAP Database (Documentation).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1155680" y="3017520"/>
            <a:ext cx="6583680" cy="3154680"/>
          </a:xfrm>
          <a:prstGeom prst="roundRect">
            <a:avLst>
              <a:gd name="adj" fmla="val 3478"/>
            </a:avLst>
          </a:prstGeom>
          <a:solidFill>
            <a:schemeClr val="bg1">
              <a:alpha val="92000"/>
            </a:schemeClr>
          </a:solidFill>
          <a:ln w="25400">
            <a:solidFill>
              <a:schemeClr val="accent2"/>
            </a:solidFill>
            <a:prstDash val="solid"/>
          </a:ln>
        </p:spPr>
        <p:txBody>
          <a:bodyPr/>
          <a:p/>
        </p:txBody>
      </p:sp>
      <p:pic>
        <p:nvPicPr>
          <p:cNvPr id="19" name="Image 0" descr="QR code linking to github.com/anshxgaur/VIST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0" y="3246120"/>
            <a:ext cx="2697480" cy="2697480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14310360" y="3291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200" kern="0" dirty="0">
                <a:solidFill>
                  <a:schemeClr val="accent2"/>
                </a:solidFill>
              </a:rPr>
              <a:t>CODE &amp; DEMO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14310360" y="374904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github.com/</a:t>
            </a:r>
            <a:endParaRPr lang="en-US" sz="2000" dirty="0"/>
          </a:p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anshxgaur/VISTA</a:t>
            </a:r>
            <a:endParaRPr lang="en-US" sz="2000" dirty="0"/>
          </a:p>
        </p:txBody>
      </p:sp>
      <p:sp>
        <p:nvSpPr>
          <p:cNvPr id="22" name="Text 19"/>
          <p:cNvSpPr txBox="1"/>
          <p:nvPr/>
        </p:nvSpPr>
        <p:spPr>
          <a:xfrm>
            <a:off x="14310360" y="470916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Scan to open the code. Working prototype screenshots on slide 8.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11155680" y="6355080"/>
            <a:ext cx="3200400" cy="1097280"/>
          </a:xfrm>
          <a:prstGeom prst="roundRect">
            <a:avLst>
              <a:gd name="adj" fmla="val 10000"/>
            </a:avLst>
          </a:prstGeom>
          <a:solidFill>
            <a:schemeClr val="bg2">
              <a:alpha val="92000"/>
            </a:schemeClr>
          </a:solidFill>
          <a:ln w="19050">
            <a:solidFill>
              <a:schemeClr val="accent4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 txBox="1"/>
          <p:nvPr/>
        </p:nvSpPr>
        <p:spPr>
          <a:xfrm>
            <a:off x="11155680" y="642823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7,248</a:t>
            </a:r>
            <a:endParaRPr lang="en-US" sz="3200" dirty="0"/>
          </a:p>
        </p:txBody>
      </p:sp>
      <p:sp>
        <p:nvSpPr>
          <p:cNvPr id="25" name="Text 22"/>
          <p:cNvSpPr txBox="1"/>
          <p:nvPr/>
        </p:nvSpPr>
        <p:spPr>
          <a:xfrm>
            <a:off x="11155680" y="7040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searchable reports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14538960" y="6355080"/>
            <a:ext cx="3200400" cy="1097280"/>
          </a:xfrm>
          <a:prstGeom prst="roundRect">
            <a:avLst>
              <a:gd name="adj" fmla="val 10000"/>
            </a:avLst>
          </a:prstGeom>
          <a:solidFill>
            <a:schemeClr val="accent5">
              <a:alpha val="92000"/>
            </a:schemeClr>
          </a:solidFill>
          <a:ln w="1905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27" name="Text 24"/>
          <p:cNvSpPr txBox="1"/>
          <p:nvPr/>
        </p:nvSpPr>
        <p:spPr>
          <a:xfrm>
            <a:off x="14538960" y="642823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</a:t>
            </a:r>
            <a:endParaRPr lang="en-US" sz="3200" dirty="0"/>
          </a:p>
        </p:txBody>
      </p:sp>
      <p:sp>
        <p:nvSpPr>
          <p:cNvPr id="28" name="Text 25"/>
          <p:cNvSpPr txBox="1"/>
          <p:nvPr/>
        </p:nvSpPr>
        <p:spPr>
          <a:xfrm>
            <a:off x="14538960" y="7040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semantic boxes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11155680" y="7589520"/>
            <a:ext cx="3200400" cy="1097280"/>
          </a:xfrm>
          <a:prstGeom prst="roundRect">
            <a:avLst>
              <a:gd name="adj" fmla="val 10000"/>
            </a:avLst>
          </a:prstGeom>
          <a:solidFill>
            <a:schemeClr val="accent5">
              <a:alpha val="92000"/>
            </a:schemeClr>
          </a:solidFill>
          <a:ln w="1905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 txBox="1"/>
          <p:nvPr/>
        </p:nvSpPr>
        <p:spPr>
          <a:xfrm>
            <a:off x="11155680" y="766267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384-D</a:t>
            </a:r>
            <a:endParaRPr lang="en-US" sz="3200" dirty="0"/>
          </a:p>
        </p:txBody>
      </p:sp>
      <p:sp>
        <p:nvSpPr>
          <p:cNvPr id="31" name="Text 28"/>
          <p:cNvSpPr txBox="1"/>
          <p:nvPr/>
        </p:nvSpPr>
        <p:spPr>
          <a:xfrm>
            <a:off x="11155680" y="8275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embedding index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14538960" y="7589520"/>
            <a:ext cx="3200400" cy="1097280"/>
          </a:xfrm>
          <a:prstGeom prst="roundRect">
            <a:avLst>
              <a:gd name="adj" fmla="val 10000"/>
            </a:avLst>
          </a:prstGeom>
          <a:solidFill>
            <a:schemeClr val="bg2">
              <a:alpha val="92000"/>
            </a:schemeClr>
          </a:solidFill>
          <a:ln w="19050">
            <a:solidFill>
              <a:schemeClr val="accent4"/>
            </a:solidFill>
            <a:prstDash val="solid"/>
          </a:ln>
        </p:spPr>
        <p:txBody>
          <a:bodyPr/>
          <a:p/>
        </p:txBody>
      </p:sp>
      <p:sp>
        <p:nvSpPr>
          <p:cNvPr id="33" name="Text 30"/>
          <p:cNvSpPr txBox="1"/>
          <p:nvPr/>
        </p:nvSpPr>
        <p:spPr>
          <a:xfrm>
            <a:off x="14538960" y="766267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95.5%</a:t>
            </a:r>
            <a:endParaRPr lang="en-US" sz="3200" dirty="0"/>
          </a:p>
        </p:txBody>
      </p:sp>
      <p:sp>
        <p:nvSpPr>
          <p:cNvPr id="34" name="Text 31"/>
          <p:cNvSpPr txBox="1"/>
          <p:nvPr/>
        </p:nvSpPr>
        <p:spPr>
          <a:xfrm>
            <a:off x="14538960" y="8275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specialty purity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548640" y="8961120"/>
            <a:ext cx="17190720" cy="54864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 txBox="1"/>
          <p:nvPr/>
        </p:nvSpPr>
        <p:spPr>
          <a:xfrm>
            <a:off x="548640" y="8961120"/>
            <a:ext cx="1719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VISTA: find reports by meaning, with far fewer vectors.  Thank you!  ·  The Revolutionaries, PSIT Kanpur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7373600" y="96012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7" type="title" hasCustomPrompt="1"/>
          </p:nvPr>
        </p:nvSpPr>
        <p:spPr>
          <a:xfrm>
            <a:off x="896112" y="1783080"/>
            <a:ext cx="1627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b="1" dirty="0">
                <a:solidFill>
                  <a:schemeClr val="tx1"/>
                </a:solidFill>
              </a:rPr>
              <a:t>PROTOTYPE</a:t>
            </a:r>
            <a:endParaRPr lang="en-US" sz="5000" dirty="0"/>
          </a:p>
        </p:txBody>
      </p:sp>
      <p:sp>
        <p:nvSpPr>
          <p:cNvPr id="3" name="Shape 1"/>
          <p:cNvSpPr/>
          <p:nvPr/>
        </p:nvSpPr>
        <p:spPr>
          <a:xfrm>
            <a:off x="6035040" y="2240280"/>
            <a:ext cx="11750040" cy="0"/>
          </a:xfrm>
          <a:prstGeom prst="line">
            <a:avLst/>
          </a:prstGeom>
          <a:noFill/>
          <a:ln w="5715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7657064" y="2112264"/>
            <a:ext cx="256032" cy="25603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6400800" y="60533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Box Explorer: 1,000-report test run, 12 boxes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12252960" y="60533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Analytics: K = 12 chosen by sweeping K from 5 to 25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548640" y="6629400"/>
            <a:ext cx="2743200" cy="1188720"/>
          </a:xfrm>
          <a:prstGeom prst="roundRect">
            <a:avLst>
              <a:gd name="adj" fmla="val 10435"/>
            </a:avLst>
          </a:prstGeom>
          <a:solidFill>
            <a:schemeClr val="bg2">
              <a:alpha val="92000"/>
            </a:schemeClr>
          </a:solidFill>
          <a:ln w="19050">
            <a:solidFill>
              <a:schemeClr val="accent4"/>
            </a:solidFill>
            <a:prstDash val="solid"/>
          </a:ln>
        </p:spPr>
        <p:txBody>
          <a:bodyPr/>
          <a:p/>
        </p:txBody>
      </p:sp>
      <p:sp>
        <p:nvSpPr>
          <p:cNvPr id="13" name="Text 8"/>
          <p:cNvSpPr txBox="1"/>
          <p:nvPr/>
        </p:nvSpPr>
        <p:spPr>
          <a:xfrm>
            <a:off x="548640" y="67208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0.0443</a:t>
            </a:r>
            <a:endParaRPr lang="en-US" sz="3200" dirty="0"/>
          </a:p>
        </p:txBody>
      </p:sp>
      <p:sp>
        <p:nvSpPr>
          <p:cNvPr id="14" name="Text 9"/>
          <p:cNvSpPr txBox="1"/>
          <p:nvPr/>
        </p:nvSpPr>
        <p:spPr>
          <a:xfrm>
            <a:off x="548640" y="7342631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Silhouette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3474720" y="6629400"/>
            <a:ext cx="2743200" cy="1188720"/>
          </a:xfrm>
          <a:prstGeom prst="roundRect">
            <a:avLst>
              <a:gd name="adj" fmla="val 10435"/>
            </a:avLst>
          </a:prstGeom>
          <a:solidFill>
            <a:schemeClr val="bg2">
              <a:alpha val="92000"/>
            </a:schemeClr>
          </a:solidFill>
          <a:ln w="19050">
            <a:solidFill>
              <a:schemeClr val="accent4"/>
            </a:solidFill>
            <a:prstDash val="solid"/>
          </a:ln>
        </p:spPr>
        <p:txBody>
          <a:bodyPr/>
          <a:p/>
        </p:txBody>
      </p:sp>
      <p:sp>
        <p:nvSpPr>
          <p:cNvPr id="16" name="Text 11"/>
          <p:cNvSpPr txBox="1"/>
          <p:nvPr/>
        </p:nvSpPr>
        <p:spPr>
          <a:xfrm>
            <a:off x="3474720" y="67208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3.67</a:t>
            </a:r>
            <a:endParaRPr lang="en-US" sz="3200" dirty="0"/>
          </a:p>
        </p:txBody>
      </p:sp>
      <p:sp>
        <p:nvSpPr>
          <p:cNvPr id="17" name="Text 12"/>
          <p:cNvSpPr txBox="1"/>
          <p:nvPr/>
        </p:nvSpPr>
        <p:spPr>
          <a:xfrm>
            <a:off x="3474720" y="7342631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Davies–Bouldin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6400800" y="6629400"/>
            <a:ext cx="2743200" cy="1188720"/>
          </a:xfrm>
          <a:prstGeom prst="roundRect">
            <a:avLst>
              <a:gd name="adj" fmla="val 10435"/>
            </a:avLst>
          </a:prstGeom>
          <a:solidFill>
            <a:schemeClr val="bg2">
              <a:alpha val="92000"/>
            </a:schemeClr>
          </a:solidFill>
          <a:ln w="19050">
            <a:solidFill>
              <a:schemeClr val="accent4"/>
            </a:solidFill>
            <a:prstDash val="solid"/>
          </a:ln>
        </p:spPr>
        <p:txBody>
          <a:bodyPr/>
          <a:p/>
        </p:txBody>
      </p:sp>
      <p:sp>
        <p:nvSpPr>
          <p:cNvPr id="19" name="Text 14"/>
          <p:cNvSpPr txBox="1"/>
          <p:nvPr/>
        </p:nvSpPr>
        <p:spPr>
          <a:xfrm>
            <a:off x="6400800" y="67208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19.62</a:t>
            </a:r>
            <a:endParaRPr lang="en-US" sz="3200" dirty="0"/>
          </a:p>
        </p:txBody>
      </p:sp>
      <p:sp>
        <p:nvSpPr>
          <p:cNvPr id="20" name="Text 15"/>
          <p:cNvSpPr txBox="1"/>
          <p:nvPr/>
        </p:nvSpPr>
        <p:spPr>
          <a:xfrm>
            <a:off x="6400800" y="7342631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Calinski–Harabasz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9326880" y="6629400"/>
            <a:ext cx="2743200" cy="1188720"/>
          </a:xfrm>
          <a:prstGeom prst="roundRect">
            <a:avLst>
              <a:gd name="adj" fmla="val 10435"/>
            </a:avLst>
          </a:prstGeom>
          <a:solidFill>
            <a:schemeClr val="accent5">
              <a:alpha val="92000"/>
            </a:schemeClr>
          </a:solidFill>
          <a:ln w="19050">
            <a:solidFill>
              <a:schemeClr val="accent2"/>
            </a:solidFill>
            <a:prstDash val="solid"/>
          </a:ln>
        </p:spPr>
        <p:txBody>
          <a:bodyPr/>
          <a:p/>
        </p:txBody>
      </p:sp>
      <p:sp>
        <p:nvSpPr>
          <p:cNvPr id="22" name="Text 17"/>
          <p:cNvSpPr txBox="1"/>
          <p:nvPr/>
        </p:nvSpPr>
        <p:spPr>
          <a:xfrm>
            <a:off x="9326880" y="67208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95.5%</a:t>
            </a:r>
            <a:endParaRPr lang="en-US" sz="3200" dirty="0"/>
          </a:p>
        </p:txBody>
      </p:sp>
      <p:sp>
        <p:nvSpPr>
          <p:cNvPr id="23" name="Text 18"/>
          <p:cNvSpPr txBox="1"/>
          <p:nvPr/>
        </p:nvSpPr>
        <p:spPr>
          <a:xfrm>
            <a:off x="9326880" y="7342631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Specialty purity</a:t>
            </a:r>
            <a:endParaRPr lang="en-US" sz="1600" dirty="0"/>
          </a:p>
        </p:txBody>
      </p:sp>
      <p:sp>
        <p:nvSpPr>
          <p:cNvPr id="24" name="Shape 19"/>
          <p:cNvSpPr/>
          <p:nvPr/>
        </p:nvSpPr>
        <p:spPr>
          <a:xfrm>
            <a:off x="12252960" y="6629400"/>
            <a:ext cx="5486400" cy="1188720"/>
          </a:xfrm>
          <a:prstGeom prst="roundRect">
            <a:avLst>
              <a:gd name="adj" fmla="val 6486"/>
            </a:avLst>
          </a:prstGeom>
          <a:solidFill>
            <a:schemeClr val="bg1">
              <a:alpha val="92000"/>
            </a:schemeClr>
          </a:solidFill>
          <a:ln w="1905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25" name="Text 20"/>
          <p:cNvSpPr txBox="1"/>
          <p:nvPr/>
        </p:nvSpPr>
        <p:spPr>
          <a:xfrm>
            <a:off x="12435840" y="662940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Boxes overlap (low silhouette) but still follow specialties (95.5% purity). Recall@k vs a flat FAISS index is our next benchmark.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7373600" y="9601200"/>
            <a:ext cx="640080" cy="457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3"/>
          <a:srcRect b="5435"/>
          <a:stretch>
            <a:fillRect/>
          </a:stretch>
        </p:blipFill>
        <p:spPr>
          <a:xfrm>
            <a:off x="548640" y="3017520"/>
            <a:ext cx="5486400" cy="292608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/>
          <a:srcRect b="6075"/>
          <a:stretch>
            <a:fillRect/>
          </a:stretch>
        </p:blipFill>
        <p:spPr>
          <a:xfrm>
            <a:off x="6400800" y="3017520"/>
            <a:ext cx="5486400" cy="292608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7"/>
          <a:srcRect l="110" r="110"/>
          <a:stretch>
            <a:fillRect/>
          </a:stretch>
        </p:blipFill>
        <p:spPr>
          <a:xfrm>
            <a:off x="12252960" y="3017520"/>
            <a:ext cx="5486400" cy="29260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3017520"/>
            <a:ext cx="5486400" cy="2926080"/>
          </a:xfrm>
          <a:prstGeom prst="rect">
            <a:avLst/>
          </a:prstGeom>
          <a:solidFill>
            <a:schemeClr val="bg1">
              <a:alpha val="0"/>
            </a:schemeClr>
          </a:solidFill>
          <a:ln w="254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6400800" y="3017520"/>
            <a:ext cx="5486400" cy="2926080"/>
          </a:xfrm>
          <a:prstGeom prst="rect">
            <a:avLst/>
          </a:prstGeom>
          <a:solidFill>
            <a:schemeClr val="bg1">
              <a:alpha val="0"/>
            </a:schemeClr>
          </a:solidFill>
          <a:ln w="254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29" name="Shape 3"/>
          <p:cNvSpPr/>
          <p:nvPr/>
        </p:nvSpPr>
        <p:spPr>
          <a:xfrm>
            <a:off x="12252960" y="3017520"/>
            <a:ext cx="5486400" cy="2926080"/>
          </a:xfrm>
          <a:prstGeom prst="rect">
            <a:avLst/>
          </a:prstGeom>
          <a:solidFill>
            <a:schemeClr val="bg1">
              <a:alpha val="0"/>
            </a:schemeClr>
          </a:solidFill>
          <a:ln w="25400">
            <a:solidFill>
              <a:schemeClr val="accent1"/>
            </a:solidFill>
            <a:prstDash val="solid"/>
          </a:ln>
        </p:spPr>
        <p:txBody>
          <a:bodyPr/>
          <a:p/>
        </p:txBody>
      </p:sp>
      <p:sp>
        <p:nvSpPr>
          <p:cNvPr id="30" name="Text 5"/>
          <p:cNvSpPr txBox="1"/>
          <p:nvPr/>
        </p:nvSpPr>
        <p:spPr>
          <a:xfrm>
            <a:off x="548640" y="60533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Ingestion: upload a report, 5-step pipeline, data agent</a:t>
            </a:r>
            <a:endParaRPr lang="en-US" sz="1700" dirty="0"/>
          </a:p>
        </p:txBody>
      </p:sp>
      <p:sp>
        <p:nvSpPr>
          <p:cNvPr id="37" name="Shape 32"/>
          <p:cNvSpPr/>
          <p:nvPr/>
        </p:nvSpPr>
        <p:spPr>
          <a:xfrm>
            <a:off x="548640" y="8183879"/>
            <a:ext cx="17190720" cy="82296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8" name="Text 33"/>
          <p:cNvSpPr txBox="1"/>
          <p:nvPr/>
        </p:nvSpPr>
        <p:spPr>
          <a:xfrm>
            <a:off x="548640" y="8183879"/>
            <a:ext cx="1719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Working prototype: 7,248 searchable reports in 12 semantic boxes (384-D index)  ·  Code: github.com/anshxgaur/VISTA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deVerse Build with Bharat">
  <a:themeElements>
    <a:clrScheme name="CodeVerse Build with Bharat">
      <a:dk1>
        <a:srgbClr val="000000"/>
      </a:dk1>
      <a:lt1>
        <a:srgbClr val="FFFFFF"/>
      </a:lt1>
      <a:dk2>
        <a:srgbClr val="222222"/>
      </a:dk2>
      <a:lt2>
        <a:srgbClr val="FFF1EA"/>
      </a:lt2>
      <a:accent1>
        <a:srgbClr val="FF5C1F"/>
      </a:accent1>
      <a:accent2>
        <a:srgbClr val="15762B"/>
      </a:accent2>
      <a:accent3>
        <a:srgbClr val="8725B4"/>
      </a:accent3>
      <a:accent4>
        <a:srgbClr val="FFC4AB"/>
      </a:accent4>
      <a:accent5>
        <a:srgbClr val="E6F4E9"/>
      </a:accent5>
      <a:accent6>
        <a:srgbClr val="5A5A5A"/>
      </a:accent6>
      <a:hlink>
        <a:srgbClr val="15762B"/>
      </a:hlink>
      <a:folHlink>
        <a:srgbClr val="8725B4"/>
      </a:folHlink>
    </a:clrScheme>
    <a:fontScheme name="CodeVerse Build with Bharat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VISTA – Semantic Search for Medical Reports using Box-Clustering</dc:title>
  <dc:subject>PptxGenJS Presentation</dc:subject>
  <dc:creator>The Revolutionaries</dc:creator>
  <cp:lastModifiedBy>The Revolutionaries</cp:lastModifiedBy>
  <cp:revision>1</cp:revision>
  <dcterms:created xsi:type="dcterms:W3CDTF">2026-10-29T09:04:31Z</dcterms:created>
  <dcterms:modified xsi:type="dcterms:W3CDTF">2026-10-29T09:04:31Z</dcterms:modified>
</cp:coreProperties>
</file>